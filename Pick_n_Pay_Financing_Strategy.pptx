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2AEF5-0384-4A15-99A0-505E3A546166}" v="15" dt="2026-07-23T16:52:34.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1" d="100"/>
          <a:sy n="121" d="100"/>
        </p:scale>
        <p:origin x="-2984" y="-10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IXOLE NTSHANGASE" userId="1d3c5764-39b9-4d50-9f33-1708b2d0a8ab" providerId="ADAL" clId="{DE83F8AA-0170-48C8-BA7B-0BA27387E7B6}"/>
    <pc:docChg chg="undo custSel modSld">
      <pc:chgData name="MASIXOLE NTSHANGASE" userId="1d3c5764-39b9-4d50-9f33-1708b2d0a8ab" providerId="ADAL" clId="{DE83F8AA-0170-48C8-BA7B-0BA27387E7B6}" dt="2026-07-23T17:03:00.300" v="193" actId="1076"/>
      <pc:docMkLst>
        <pc:docMk/>
      </pc:docMkLst>
      <pc:sldChg chg="modSp mod">
        <pc:chgData name="MASIXOLE NTSHANGASE" userId="1d3c5764-39b9-4d50-9f33-1708b2d0a8ab" providerId="ADAL" clId="{DE83F8AA-0170-48C8-BA7B-0BA27387E7B6}" dt="2026-07-21T11:42:17.595" v="1" actId="20577"/>
        <pc:sldMkLst>
          <pc:docMk/>
          <pc:sldMk cId="0" sldId="257"/>
        </pc:sldMkLst>
        <pc:spChg chg="mod">
          <ac:chgData name="MASIXOLE NTSHANGASE" userId="1d3c5764-39b9-4d50-9f33-1708b2d0a8ab" providerId="ADAL" clId="{DE83F8AA-0170-48C8-BA7B-0BA27387E7B6}" dt="2026-07-21T11:42:17.595" v="1" actId="20577"/>
          <ac:spMkLst>
            <pc:docMk/>
            <pc:sldMk cId="0" sldId="257"/>
            <ac:spMk id="8" creationId="{00000000-0000-0000-0000-000000000000}"/>
          </ac:spMkLst>
        </pc:spChg>
      </pc:sldChg>
      <pc:sldChg chg="modSp mod">
        <pc:chgData name="MASIXOLE NTSHANGASE" userId="1d3c5764-39b9-4d50-9f33-1708b2d0a8ab" providerId="ADAL" clId="{DE83F8AA-0170-48C8-BA7B-0BA27387E7B6}" dt="2026-07-23T16:37:52.941" v="130" actId="20577"/>
        <pc:sldMkLst>
          <pc:docMk/>
          <pc:sldMk cId="0" sldId="258"/>
        </pc:sldMkLst>
        <pc:spChg chg="mod">
          <ac:chgData name="MASIXOLE NTSHANGASE" userId="1d3c5764-39b9-4d50-9f33-1708b2d0a8ab" providerId="ADAL" clId="{DE83F8AA-0170-48C8-BA7B-0BA27387E7B6}" dt="2026-07-21T11:50:41.383" v="17" actId="20577"/>
          <ac:spMkLst>
            <pc:docMk/>
            <pc:sldMk cId="0" sldId="258"/>
            <ac:spMk id="7" creationId="{00000000-0000-0000-0000-000000000000}"/>
          </ac:spMkLst>
        </pc:spChg>
        <pc:spChg chg="mod">
          <ac:chgData name="MASIXOLE NTSHANGASE" userId="1d3c5764-39b9-4d50-9f33-1708b2d0a8ab" providerId="ADAL" clId="{DE83F8AA-0170-48C8-BA7B-0BA27387E7B6}" dt="2026-07-23T16:34:10.872" v="55" actId="20577"/>
          <ac:spMkLst>
            <pc:docMk/>
            <pc:sldMk cId="0" sldId="258"/>
            <ac:spMk id="8" creationId="{00000000-0000-0000-0000-000000000000}"/>
          </ac:spMkLst>
        </pc:spChg>
        <pc:spChg chg="mod">
          <ac:chgData name="MASIXOLE NTSHANGASE" userId="1d3c5764-39b9-4d50-9f33-1708b2d0a8ab" providerId="ADAL" clId="{DE83F8AA-0170-48C8-BA7B-0BA27387E7B6}" dt="2026-07-21T11:48:52.847" v="2" actId="1076"/>
          <ac:spMkLst>
            <pc:docMk/>
            <pc:sldMk cId="0" sldId="258"/>
            <ac:spMk id="13" creationId="{00000000-0000-0000-0000-000000000000}"/>
          </ac:spMkLst>
        </pc:spChg>
        <pc:spChg chg="mod">
          <ac:chgData name="MASIXOLE NTSHANGASE" userId="1d3c5764-39b9-4d50-9f33-1708b2d0a8ab" providerId="ADAL" clId="{DE83F8AA-0170-48C8-BA7B-0BA27387E7B6}" dt="2026-07-21T11:48:57.774" v="3" actId="1076"/>
          <ac:spMkLst>
            <pc:docMk/>
            <pc:sldMk cId="0" sldId="258"/>
            <ac:spMk id="14" creationId="{00000000-0000-0000-0000-000000000000}"/>
          </ac:spMkLst>
        </pc:spChg>
        <pc:graphicFrameChg chg="modGraphic">
          <ac:chgData name="MASIXOLE NTSHANGASE" userId="1d3c5764-39b9-4d50-9f33-1708b2d0a8ab" providerId="ADAL" clId="{DE83F8AA-0170-48C8-BA7B-0BA27387E7B6}" dt="2026-07-23T16:33:25.982" v="53" actId="20577"/>
          <ac:graphicFrameMkLst>
            <pc:docMk/>
            <pc:sldMk cId="0" sldId="258"/>
            <ac:graphicFrameMk id="6" creationId="{00000000-0000-0000-0000-000000000000}"/>
          </ac:graphicFrameMkLst>
        </pc:graphicFrameChg>
        <pc:graphicFrameChg chg="modGraphic">
          <ac:chgData name="MASIXOLE NTSHANGASE" userId="1d3c5764-39b9-4d50-9f33-1708b2d0a8ab" providerId="ADAL" clId="{DE83F8AA-0170-48C8-BA7B-0BA27387E7B6}" dt="2026-07-23T16:37:52.941" v="130" actId="20577"/>
          <ac:graphicFrameMkLst>
            <pc:docMk/>
            <pc:sldMk cId="0" sldId="258"/>
            <ac:graphicFrameMk id="12" creationId="{00000000-0000-0000-0000-000000000000}"/>
          </ac:graphicFrameMkLst>
        </pc:graphicFrameChg>
      </pc:sldChg>
      <pc:sldChg chg="modSp mod">
        <pc:chgData name="MASIXOLE NTSHANGASE" userId="1d3c5764-39b9-4d50-9f33-1708b2d0a8ab" providerId="ADAL" clId="{DE83F8AA-0170-48C8-BA7B-0BA27387E7B6}" dt="2026-07-23T16:52:47.603" v="158" actId="20577"/>
        <pc:sldMkLst>
          <pc:docMk/>
          <pc:sldMk cId="0" sldId="259"/>
        </pc:sldMkLst>
        <pc:spChg chg="mod">
          <ac:chgData name="MASIXOLE NTSHANGASE" userId="1d3c5764-39b9-4d50-9f33-1708b2d0a8ab" providerId="ADAL" clId="{DE83F8AA-0170-48C8-BA7B-0BA27387E7B6}" dt="2026-07-21T11:58:36.403" v="41" actId="20577"/>
          <ac:spMkLst>
            <pc:docMk/>
            <pc:sldMk cId="0" sldId="259"/>
            <ac:spMk id="9" creationId="{00000000-0000-0000-0000-000000000000}"/>
          </ac:spMkLst>
        </pc:spChg>
        <pc:spChg chg="mod">
          <ac:chgData name="MASIXOLE NTSHANGASE" userId="1d3c5764-39b9-4d50-9f33-1708b2d0a8ab" providerId="ADAL" clId="{DE83F8AA-0170-48C8-BA7B-0BA27387E7B6}" dt="2026-07-23T16:52:47.603" v="158" actId="20577"/>
          <ac:spMkLst>
            <pc:docMk/>
            <pc:sldMk cId="0" sldId="259"/>
            <ac:spMk id="12" creationId="{00000000-0000-0000-0000-000000000000}"/>
          </ac:spMkLst>
        </pc:spChg>
      </pc:sldChg>
      <pc:sldChg chg="addSp modSp mod">
        <pc:chgData name="MASIXOLE NTSHANGASE" userId="1d3c5764-39b9-4d50-9f33-1708b2d0a8ab" providerId="ADAL" clId="{DE83F8AA-0170-48C8-BA7B-0BA27387E7B6}" dt="2026-07-23T17:03:00.300" v="193" actId="1076"/>
        <pc:sldMkLst>
          <pc:docMk/>
          <pc:sldMk cId="0" sldId="260"/>
        </pc:sldMkLst>
        <pc:spChg chg="mod">
          <ac:chgData name="MASIXOLE NTSHANGASE" userId="1d3c5764-39b9-4d50-9f33-1708b2d0a8ab" providerId="ADAL" clId="{DE83F8AA-0170-48C8-BA7B-0BA27387E7B6}" dt="2026-07-23T16:58:14.649" v="168" actId="1076"/>
          <ac:spMkLst>
            <pc:docMk/>
            <pc:sldMk cId="0" sldId="260"/>
            <ac:spMk id="16" creationId="{00000000-0000-0000-0000-000000000000}"/>
          </ac:spMkLst>
        </pc:spChg>
        <pc:picChg chg="add mod">
          <ac:chgData name="MASIXOLE NTSHANGASE" userId="1d3c5764-39b9-4d50-9f33-1708b2d0a8ab" providerId="ADAL" clId="{DE83F8AA-0170-48C8-BA7B-0BA27387E7B6}" dt="2026-07-23T16:57:17.959" v="165" actId="14100"/>
          <ac:picMkLst>
            <pc:docMk/>
            <pc:sldMk cId="0" sldId="260"/>
            <ac:picMk id="31" creationId="{FE9D67B8-6423-2D1C-1FBD-0530D4289E5A}"/>
          </ac:picMkLst>
        </pc:picChg>
        <pc:picChg chg="add mod">
          <ac:chgData name="MASIXOLE NTSHANGASE" userId="1d3c5764-39b9-4d50-9f33-1708b2d0a8ab" providerId="ADAL" clId="{DE83F8AA-0170-48C8-BA7B-0BA27387E7B6}" dt="2026-07-23T16:58:51.188" v="175" actId="1076"/>
          <ac:picMkLst>
            <pc:docMk/>
            <pc:sldMk cId="0" sldId="260"/>
            <ac:picMk id="33" creationId="{FBD7E5EB-E93E-2988-3B39-C4BBD279F6A7}"/>
          </ac:picMkLst>
        </pc:picChg>
        <pc:picChg chg="add mod">
          <ac:chgData name="MASIXOLE NTSHANGASE" userId="1d3c5764-39b9-4d50-9f33-1708b2d0a8ab" providerId="ADAL" clId="{DE83F8AA-0170-48C8-BA7B-0BA27387E7B6}" dt="2026-07-23T17:00:41.950" v="183" actId="1076"/>
          <ac:picMkLst>
            <pc:docMk/>
            <pc:sldMk cId="0" sldId="260"/>
            <ac:picMk id="35" creationId="{6D16B230-F716-0BC8-058F-0BB519626BB5}"/>
          </ac:picMkLst>
        </pc:picChg>
        <pc:picChg chg="add mod">
          <ac:chgData name="MASIXOLE NTSHANGASE" userId="1d3c5764-39b9-4d50-9f33-1708b2d0a8ab" providerId="ADAL" clId="{DE83F8AA-0170-48C8-BA7B-0BA27387E7B6}" dt="2026-07-23T17:03:00.300" v="193" actId="1076"/>
          <ac:picMkLst>
            <pc:docMk/>
            <pc:sldMk cId="0" sldId="260"/>
            <ac:picMk id="37" creationId="{C575238E-85E8-294B-8FAF-5D2BD0D6A065}"/>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Equity</c:v>
                </c:pt>
              </c:strCache>
            </c:strRef>
          </c:tx>
          <c:spPr>
            <a:solidFill>
              <a:srgbClr val="C9A227"/>
            </a:solidFill>
            <a:effectLst/>
          </c:spPr>
          <c:invertIfNegative val="0"/>
          <c:dLbls>
            <c:numFmt formatCode="#,##0" sourceLinked="0"/>
            <c:spPr>
              <a:noFill/>
              <a:ln>
                <a:noFill/>
              </a:ln>
              <a:effectLst/>
            </c:spPr>
            <c:txPr>
              <a:bodyPr/>
              <a:lstStyle/>
              <a:p>
                <a:pPr>
                  <a:defRPr sz="900" b="0" i="0" u="none" strike="noStrike">
                    <a:solidFill>
                      <a:srgbClr val="3540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2022</c:v>
                </c:pt>
                <c:pt idx="1">
                  <c:v>2023</c:v>
                </c:pt>
                <c:pt idx="2">
                  <c:v>2024</c:v>
                </c:pt>
                <c:pt idx="3">
                  <c:v>2025</c:v>
                </c:pt>
                <c:pt idx="4">
                  <c:v>2026</c:v>
                </c:pt>
              </c:strCache>
            </c:strRef>
          </c:cat>
          <c:val>
            <c:numRef>
              <c:f>Sheet1!$B$2:$B$6</c:f>
              <c:numCache>
                <c:formatCode>General</c:formatCode>
                <c:ptCount val="5"/>
                <c:pt idx="0">
                  <c:v>3715.7</c:v>
                </c:pt>
                <c:pt idx="1">
                  <c:v>3702.8</c:v>
                </c:pt>
                <c:pt idx="2">
                  <c:v>-293</c:v>
                </c:pt>
                <c:pt idx="3">
                  <c:v>10965</c:v>
                </c:pt>
                <c:pt idx="4">
                  <c:v>10706</c:v>
                </c:pt>
              </c:numCache>
            </c:numRef>
          </c:val>
          <c:extLst>
            <c:ext xmlns:c16="http://schemas.microsoft.com/office/drawing/2014/chart" uri="{C3380CC4-5D6E-409C-BE32-E72D297353CC}">
              <c16:uniqueId val="{00000000-D451-406D-914C-156770F37F12}"/>
            </c:ext>
          </c:extLst>
        </c:ser>
        <c:ser>
          <c:idx val="1"/>
          <c:order val="1"/>
          <c:tx>
            <c:strRef>
              <c:f>Sheet1!$C$1</c:f>
              <c:strCache>
                <c:ptCount val="1"/>
                <c:pt idx="0">
                  <c:v>Total Debt (borrowings + leases)</c:v>
                </c:pt>
              </c:strCache>
            </c:strRef>
          </c:tx>
          <c:spPr>
            <a:solidFill>
              <a:srgbClr val="1E2761"/>
            </a:solidFill>
            <a:effectLst/>
          </c:spPr>
          <c:invertIfNegative val="0"/>
          <c:dLbls>
            <c:numFmt formatCode="#,##0" sourceLinked="0"/>
            <c:spPr>
              <a:noFill/>
              <a:ln>
                <a:noFill/>
              </a:ln>
              <a:effectLst/>
            </c:spPr>
            <c:txPr>
              <a:bodyPr/>
              <a:lstStyle/>
              <a:p>
                <a:pPr>
                  <a:defRPr sz="900" b="0" i="0" u="none" strike="noStrike">
                    <a:solidFill>
                      <a:srgbClr val="3540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2022</c:v>
                </c:pt>
                <c:pt idx="1">
                  <c:v>2023</c:v>
                </c:pt>
                <c:pt idx="2">
                  <c:v>2024</c:v>
                </c:pt>
                <c:pt idx="3">
                  <c:v>2025</c:v>
                </c:pt>
                <c:pt idx="4">
                  <c:v>2026</c:v>
                </c:pt>
              </c:strCache>
            </c:strRef>
          </c:cat>
          <c:val>
            <c:numRef>
              <c:f>Sheet1!$C$2:$C$6</c:f>
              <c:numCache>
                <c:formatCode>General</c:formatCode>
                <c:ptCount val="5"/>
                <c:pt idx="0">
                  <c:v>22891</c:v>
                </c:pt>
                <c:pt idx="1">
                  <c:v>23273.4</c:v>
                </c:pt>
                <c:pt idx="2">
                  <c:v>31151</c:v>
                </c:pt>
                <c:pt idx="3">
                  <c:v>20270</c:v>
                </c:pt>
                <c:pt idx="4">
                  <c:v>18735</c:v>
                </c:pt>
              </c:numCache>
            </c:numRef>
          </c:val>
          <c:extLst>
            <c:ext xmlns:c16="http://schemas.microsoft.com/office/drawing/2014/chart" uri="{C3380CC4-5D6E-409C-BE32-E72D297353CC}">
              <c16:uniqueId val="{00000001-D451-406D-914C-156770F37F12}"/>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5405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540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5405C"/>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Borrowings Raised</c:v>
                </c:pt>
              </c:strCache>
            </c:strRef>
          </c:tx>
          <c:spPr>
            <a:solidFill>
              <a:srgbClr val="CADCFC"/>
            </a:solidFill>
            <a:effectLst/>
          </c:spPr>
          <c:invertIfNegative val="0"/>
          <c:cat>
            <c:strRef>
              <c:f>Sheet1!$A$2:$A$6</c:f>
              <c:strCache>
                <c:ptCount val="5"/>
                <c:pt idx="0">
                  <c:v>2022</c:v>
                </c:pt>
                <c:pt idx="1">
                  <c:v>2023</c:v>
                </c:pt>
                <c:pt idx="2">
                  <c:v>2024</c:v>
                </c:pt>
                <c:pt idx="3">
                  <c:v>2025</c:v>
                </c:pt>
                <c:pt idx="4">
                  <c:v>2026</c:v>
                </c:pt>
              </c:strCache>
            </c:strRef>
          </c:cat>
          <c:val>
            <c:numRef>
              <c:f>Sheet1!$B$2:$B$6</c:f>
              <c:numCache>
                <c:formatCode>General</c:formatCode>
                <c:ptCount val="5"/>
                <c:pt idx="0">
                  <c:v>6020.4</c:v>
                </c:pt>
                <c:pt idx="1">
                  <c:v>6804.8</c:v>
                </c:pt>
                <c:pt idx="2">
                  <c:v>15607</c:v>
                </c:pt>
                <c:pt idx="3">
                  <c:v>3235</c:v>
                </c:pt>
                <c:pt idx="4">
                  <c:v>0</c:v>
                </c:pt>
              </c:numCache>
            </c:numRef>
          </c:val>
          <c:extLst>
            <c:ext xmlns:c16="http://schemas.microsoft.com/office/drawing/2014/chart" uri="{C3380CC4-5D6E-409C-BE32-E72D297353CC}">
              <c16:uniqueId val="{00000000-099F-4A7C-82BF-7132D391C82E}"/>
            </c:ext>
          </c:extLst>
        </c:ser>
        <c:ser>
          <c:idx val="1"/>
          <c:order val="1"/>
          <c:tx>
            <c:strRef>
              <c:f>Sheet1!$C$1</c:f>
              <c:strCache>
                <c:ptCount val="1"/>
                <c:pt idx="0">
                  <c:v>Repayment of Borrowings</c:v>
                </c:pt>
              </c:strCache>
            </c:strRef>
          </c:tx>
          <c:spPr>
            <a:solidFill>
              <a:srgbClr val="B23A48"/>
            </a:solidFill>
            <a:effectLst/>
          </c:spPr>
          <c:invertIfNegative val="0"/>
          <c:cat>
            <c:strRef>
              <c:f>Sheet1!$A$2:$A$6</c:f>
              <c:strCache>
                <c:ptCount val="5"/>
                <c:pt idx="0">
                  <c:v>2022</c:v>
                </c:pt>
                <c:pt idx="1">
                  <c:v>2023</c:v>
                </c:pt>
                <c:pt idx="2">
                  <c:v>2024</c:v>
                </c:pt>
                <c:pt idx="3">
                  <c:v>2025</c:v>
                </c:pt>
                <c:pt idx="4">
                  <c:v>2026</c:v>
                </c:pt>
              </c:strCache>
            </c:strRef>
          </c:cat>
          <c:val>
            <c:numRef>
              <c:f>Sheet1!$C$2:$C$6</c:f>
              <c:numCache>
                <c:formatCode>General</c:formatCode>
                <c:ptCount val="5"/>
                <c:pt idx="0">
                  <c:v>5348.5</c:v>
                </c:pt>
                <c:pt idx="1">
                  <c:v>7938.5</c:v>
                </c:pt>
                <c:pt idx="2">
                  <c:v>12210</c:v>
                </c:pt>
                <c:pt idx="3">
                  <c:v>8651</c:v>
                </c:pt>
                <c:pt idx="4">
                  <c:v>650</c:v>
                </c:pt>
              </c:numCache>
            </c:numRef>
          </c:val>
          <c:extLst>
            <c:ext xmlns:c16="http://schemas.microsoft.com/office/drawing/2014/chart" uri="{C3380CC4-5D6E-409C-BE32-E72D297353CC}">
              <c16:uniqueId val="{00000001-099F-4A7C-82BF-7132D391C82E}"/>
            </c:ext>
          </c:extLst>
        </c:ser>
        <c:ser>
          <c:idx val="2"/>
          <c:order val="2"/>
          <c:tx>
            <c:strRef>
              <c:f>Sheet1!$D$1</c:f>
              <c:strCache>
                <c:ptCount val="1"/>
                <c:pt idx="0">
                  <c:v>Lease Payments</c:v>
                </c:pt>
              </c:strCache>
            </c:strRef>
          </c:tx>
          <c:spPr>
            <a:solidFill>
              <a:srgbClr val="1E2761"/>
            </a:solidFill>
            <a:effectLst/>
          </c:spPr>
          <c:invertIfNegative val="0"/>
          <c:cat>
            <c:strRef>
              <c:f>Sheet1!$A$2:$A$6</c:f>
              <c:strCache>
                <c:ptCount val="5"/>
                <c:pt idx="0">
                  <c:v>2022</c:v>
                </c:pt>
                <c:pt idx="1">
                  <c:v>2023</c:v>
                </c:pt>
                <c:pt idx="2">
                  <c:v>2024</c:v>
                </c:pt>
                <c:pt idx="3">
                  <c:v>2025</c:v>
                </c:pt>
                <c:pt idx="4">
                  <c:v>2026</c:v>
                </c:pt>
              </c:strCache>
            </c:strRef>
          </c:cat>
          <c:val>
            <c:numRef>
              <c:f>Sheet1!$D$2:$D$6</c:f>
              <c:numCache>
                <c:formatCode>General</c:formatCode>
                <c:ptCount val="5"/>
                <c:pt idx="0">
                  <c:v>2059.8000000000002</c:v>
                </c:pt>
                <c:pt idx="1">
                  <c:v>2408.8000000000002</c:v>
                </c:pt>
                <c:pt idx="2">
                  <c:v>2520</c:v>
                </c:pt>
                <c:pt idx="3">
                  <c:v>2679</c:v>
                </c:pt>
                <c:pt idx="4">
                  <c:v>2684</c:v>
                </c:pt>
              </c:numCache>
            </c:numRef>
          </c:val>
          <c:extLst>
            <c:ext xmlns:c16="http://schemas.microsoft.com/office/drawing/2014/chart" uri="{C3380CC4-5D6E-409C-BE32-E72D297353CC}">
              <c16:uniqueId val="{00000002-099F-4A7C-82BF-7132D391C82E}"/>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5405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540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35405C"/>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08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943600" cy="5943600"/>
          </a:xfrm>
          <a:prstGeom prst="ellipse">
            <a:avLst/>
          </a:prstGeom>
          <a:solidFill>
            <a:srgbClr val="1E2761">
              <a:alpha val="60000"/>
            </a:srgbClr>
          </a:solidFill>
          <a:ln/>
        </p:spPr>
        <p:txBody>
          <a:bodyPr/>
          <a:lstStyle/>
          <a:p>
            <a:endParaRPr lang="en-ZA"/>
          </a:p>
        </p:txBody>
      </p:sp>
      <p:sp>
        <p:nvSpPr>
          <p:cNvPr id="3" name="Shape 1"/>
          <p:cNvSpPr/>
          <p:nvPr/>
        </p:nvSpPr>
        <p:spPr>
          <a:xfrm>
            <a:off x="10607040" y="4206240"/>
            <a:ext cx="3840480" cy="3840480"/>
          </a:xfrm>
          <a:prstGeom prst="ellipse">
            <a:avLst/>
          </a:prstGeom>
          <a:solidFill>
            <a:srgbClr val="C9A227">
              <a:alpha val="18000"/>
            </a:srgbClr>
          </a:solidFill>
          <a:ln/>
        </p:spPr>
        <p:txBody>
          <a:bodyPr/>
          <a:lstStyle/>
          <a:p>
            <a:endParaRPr lang="en-ZA"/>
          </a:p>
        </p:txBody>
      </p:sp>
      <p:sp>
        <p:nvSpPr>
          <p:cNvPr id="4" name="Text 2"/>
          <p:cNvSpPr/>
          <p:nvPr/>
        </p:nvSpPr>
        <p:spPr>
          <a:xfrm>
            <a:off x="640080" y="1051560"/>
            <a:ext cx="8229600" cy="36576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PICK N PAY STORES LIMITED  ·  FY2022 – FY2026</a:t>
            </a:r>
            <a:endParaRPr lang="en-US" sz="1300" dirty="0"/>
          </a:p>
        </p:txBody>
      </p:sp>
      <p:sp>
        <p:nvSpPr>
          <p:cNvPr id="5" name="Text 3"/>
          <p:cNvSpPr/>
          <p:nvPr/>
        </p:nvSpPr>
        <p:spPr>
          <a:xfrm>
            <a:off x="594360" y="1417320"/>
            <a:ext cx="9601200"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Financing Strategy</a:t>
            </a:r>
            <a:endParaRPr lang="en-US" sz="4800" dirty="0"/>
          </a:p>
        </p:txBody>
      </p:sp>
      <p:sp>
        <p:nvSpPr>
          <p:cNvPr id="6" name="Text 4"/>
          <p:cNvSpPr/>
          <p:nvPr/>
        </p:nvSpPr>
        <p:spPr>
          <a:xfrm>
            <a:off x="640080" y="2514600"/>
            <a:ext cx="8686800" cy="54864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How Pick n Pay chose to fund its operations, growth and recovery over five years</a:t>
            </a:r>
            <a:endParaRPr lang="en-US" sz="1600" dirty="0"/>
          </a:p>
        </p:txBody>
      </p:sp>
      <p:sp>
        <p:nvSpPr>
          <p:cNvPr id="7" name="Shape 5"/>
          <p:cNvSpPr/>
          <p:nvPr/>
        </p:nvSpPr>
        <p:spPr>
          <a:xfrm>
            <a:off x="640080" y="3794760"/>
            <a:ext cx="3246120" cy="1783080"/>
          </a:xfrm>
          <a:prstGeom prst="roundRect">
            <a:avLst>
              <a:gd name="adj" fmla="val 4103"/>
            </a:avLst>
          </a:prstGeom>
          <a:solidFill>
            <a:srgbClr val="1E2761"/>
          </a:solidFill>
          <a:ln w="9525">
            <a:solidFill>
              <a:srgbClr val="CADCFC">
                <a:alpha val="40000"/>
              </a:srgbClr>
            </a:solidFill>
            <a:prstDash val="solid"/>
          </a:ln>
        </p:spPr>
        <p:txBody>
          <a:bodyPr/>
          <a:lstStyle/>
          <a:p>
            <a:endParaRPr lang="en-ZA"/>
          </a:p>
        </p:txBody>
      </p:sp>
      <p:sp>
        <p:nvSpPr>
          <p:cNvPr id="8" name="Text 6"/>
          <p:cNvSpPr/>
          <p:nvPr/>
        </p:nvSpPr>
        <p:spPr>
          <a:xfrm>
            <a:off x="841248" y="3995928"/>
            <a:ext cx="2843784" cy="822960"/>
          </a:xfrm>
          <a:prstGeom prst="rect">
            <a:avLst/>
          </a:prstGeom>
          <a:noFill/>
          <a:ln/>
        </p:spPr>
        <p:txBody>
          <a:bodyPr wrap="square" lIns="0" tIns="0" rIns="0" bIns="0" rtlCol="0" anchor="ctr"/>
          <a:lstStyle/>
          <a:p>
            <a:pPr marL="0" indent="0">
              <a:buNone/>
            </a:pPr>
            <a:r>
              <a:rPr lang="en-US" sz="2500" b="1" dirty="0">
                <a:solidFill>
                  <a:srgbClr val="C9A227"/>
                </a:solidFill>
                <a:latin typeface="Cambria" pitchFamily="34" charset="0"/>
                <a:ea typeface="Cambria" pitchFamily="34" charset="-122"/>
                <a:cs typeface="Cambria" pitchFamily="34" charset="-120"/>
              </a:rPr>
              <a:t>R11.4bn → R0.2bn</a:t>
            </a:r>
            <a:endParaRPr lang="en-US" sz="2500" dirty="0"/>
          </a:p>
        </p:txBody>
      </p:sp>
      <p:sp>
        <p:nvSpPr>
          <p:cNvPr id="9" name="Text 7"/>
          <p:cNvSpPr/>
          <p:nvPr/>
        </p:nvSpPr>
        <p:spPr>
          <a:xfrm>
            <a:off x="841248" y="4818888"/>
            <a:ext cx="2843784" cy="6400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Interest-bearing debt, FY2024 to FY2026</a:t>
            </a:r>
            <a:endParaRPr lang="en-US" sz="1250" dirty="0"/>
          </a:p>
        </p:txBody>
      </p:sp>
      <p:sp>
        <p:nvSpPr>
          <p:cNvPr id="10" name="Shape 8"/>
          <p:cNvSpPr/>
          <p:nvPr/>
        </p:nvSpPr>
        <p:spPr>
          <a:xfrm>
            <a:off x="4206240" y="3794760"/>
            <a:ext cx="3246120" cy="1783080"/>
          </a:xfrm>
          <a:prstGeom prst="roundRect">
            <a:avLst>
              <a:gd name="adj" fmla="val 4103"/>
            </a:avLst>
          </a:prstGeom>
          <a:solidFill>
            <a:srgbClr val="1E2761"/>
          </a:solidFill>
          <a:ln w="9525">
            <a:solidFill>
              <a:srgbClr val="CADCFC">
                <a:alpha val="40000"/>
              </a:srgbClr>
            </a:solidFill>
            <a:prstDash val="solid"/>
          </a:ln>
        </p:spPr>
        <p:txBody>
          <a:bodyPr/>
          <a:lstStyle/>
          <a:p>
            <a:endParaRPr lang="en-ZA"/>
          </a:p>
        </p:txBody>
      </p:sp>
      <p:sp>
        <p:nvSpPr>
          <p:cNvPr id="11" name="Text 9"/>
          <p:cNvSpPr/>
          <p:nvPr/>
        </p:nvSpPr>
        <p:spPr>
          <a:xfrm>
            <a:off x="4407408" y="3995928"/>
            <a:ext cx="2843784" cy="822960"/>
          </a:xfrm>
          <a:prstGeom prst="rect">
            <a:avLst/>
          </a:prstGeom>
          <a:noFill/>
          <a:ln/>
        </p:spPr>
        <p:txBody>
          <a:bodyPr wrap="square" lIns="0" tIns="0" rIns="0" bIns="0" rtlCol="0" anchor="ctr"/>
          <a:lstStyle/>
          <a:p>
            <a:pPr marL="0" indent="0">
              <a:buNone/>
            </a:pPr>
            <a:r>
              <a:rPr lang="en-US" sz="2500" b="1" dirty="0">
                <a:solidFill>
                  <a:srgbClr val="C9A227"/>
                </a:solidFill>
                <a:latin typeface="Cambria" pitchFamily="34" charset="0"/>
                <a:ea typeface="Cambria" pitchFamily="34" charset="-122"/>
                <a:cs typeface="Cambria" pitchFamily="34" charset="-120"/>
              </a:rPr>
              <a:t>R(0.3)bn → R10.7bn</a:t>
            </a:r>
            <a:endParaRPr lang="en-US" sz="2500" dirty="0"/>
          </a:p>
        </p:txBody>
      </p:sp>
      <p:sp>
        <p:nvSpPr>
          <p:cNvPr id="12" name="Text 10"/>
          <p:cNvSpPr/>
          <p:nvPr/>
        </p:nvSpPr>
        <p:spPr>
          <a:xfrm>
            <a:off x="4407408" y="4818888"/>
            <a:ext cx="2843784" cy="6400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Total equity, FY2024 to FY2026</a:t>
            </a:r>
            <a:endParaRPr lang="en-US" sz="1250" dirty="0"/>
          </a:p>
        </p:txBody>
      </p:sp>
      <p:sp>
        <p:nvSpPr>
          <p:cNvPr id="13" name="Shape 11"/>
          <p:cNvSpPr/>
          <p:nvPr/>
        </p:nvSpPr>
        <p:spPr>
          <a:xfrm>
            <a:off x="7772400" y="3794760"/>
            <a:ext cx="3246120" cy="1783080"/>
          </a:xfrm>
          <a:prstGeom prst="roundRect">
            <a:avLst>
              <a:gd name="adj" fmla="val 4103"/>
            </a:avLst>
          </a:prstGeom>
          <a:solidFill>
            <a:srgbClr val="1E2761"/>
          </a:solidFill>
          <a:ln w="9525">
            <a:solidFill>
              <a:srgbClr val="CADCFC">
                <a:alpha val="40000"/>
              </a:srgbClr>
            </a:solidFill>
            <a:prstDash val="solid"/>
          </a:ln>
        </p:spPr>
        <p:txBody>
          <a:bodyPr/>
          <a:lstStyle/>
          <a:p>
            <a:endParaRPr lang="en-ZA"/>
          </a:p>
        </p:txBody>
      </p:sp>
      <p:sp>
        <p:nvSpPr>
          <p:cNvPr id="14" name="Text 12"/>
          <p:cNvSpPr/>
          <p:nvPr/>
        </p:nvSpPr>
        <p:spPr>
          <a:xfrm>
            <a:off x="7973568" y="3995928"/>
            <a:ext cx="2843784" cy="822960"/>
          </a:xfrm>
          <a:prstGeom prst="rect">
            <a:avLst/>
          </a:prstGeom>
          <a:noFill/>
          <a:ln/>
        </p:spPr>
        <p:txBody>
          <a:bodyPr wrap="square" lIns="0" tIns="0" rIns="0" bIns="0" rtlCol="0" anchor="ctr"/>
          <a:lstStyle/>
          <a:p>
            <a:pPr marL="0" indent="0">
              <a:buNone/>
            </a:pPr>
            <a:r>
              <a:rPr lang="en-US" sz="2500" b="1" dirty="0">
                <a:solidFill>
                  <a:srgbClr val="C9A227"/>
                </a:solidFill>
                <a:latin typeface="Cambria" pitchFamily="34" charset="0"/>
                <a:ea typeface="Cambria" pitchFamily="34" charset="-122"/>
                <a:cs typeface="Cambria" pitchFamily="34" charset="-120"/>
              </a:rPr>
              <a:t>R4.0bn</a:t>
            </a:r>
            <a:endParaRPr lang="en-US" sz="2500" dirty="0"/>
          </a:p>
        </p:txBody>
      </p:sp>
      <p:sp>
        <p:nvSpPr>
          <p:cNvPr id="15" name="Text 13"/>
          <p:cNvSpPr/>
          <p:nvPr/>
        </p:nvSpPr>
        <p:spPr>
          <a:xfrm>
            <a:off x="7973568" y="4818888"/>
            <a:ext cx="2843784" cy="6400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Rights offer raised in FY2025</a:t>
            </a:r>
            <a:endParaRPr lang="en-US" sz="1250" dirty="0"/>
          </a:p>
        </p:txBody>
      </p:sp>
      <p:sp>
        <p:nvSpPr>
          <p:cNvPr id="16" name="Text 14"/>
          <p:cNvSpPr/>
          <p:nvPr/>
        </p:nvSpPr>
        <p:spPr>
          <a:xfrm>
            <a:off x="640080" y="6309360"/>
            <a:ext cx="8229600" cy="320040"/>
          </a:xfrm>
          <a:prstGeom prst="rect">
            <a:avLst/>
          </a:prstGeom>
          <a:noFill/>
          <a:ln/>
        </p:spPr>
        <p:txBody>
          <a:bodyPr wrap="square" lIns="0" tIns="0" rIns="0" bIns="0" rtlCol="0" anchor="ctr"/>
          <a:lstStyle/>
          <a:p>
            <a:pPr marL="0" indent="0">
              <a:buNone/>
            </a:pPr>
            <a:r>
              <a:rPr lang="en-US" sz="1100" dirty="0">
                <a:solidFill>
                  <a:srgbClr val="6B7690"/>
                </a:solidFill>
                <a:latin typeface="Calibri" pitchFamily="34" charset="0"/>
                <a:ea typeface="Calibri" pitchFamily="34" charset="-122"/>
                <a:cs typeface="Calibri" pitchFamily="34" charset="-120"/>
              </a:rPr>
              <a:t>Group Presentation  ·  DEMM9X2  ·  Financing Strategy Section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Capital Structure: A Five-Year Turnaround</a:t>
            </a:r>
            <a:endParaRPr lang="en-US" sz="2800" dirty="0"/>
          </a:p>
        </p:txBody>
      </p:sp>
      <p:sp>
        <p:nvSpPr>
          <p:cNvPr id="3" name="Text 1"/>
          <p:cNvSpPr/>
          <p:nvPr/>
        </p:nvSpPr>
        <p:spPr>
          <a:xfrm>
            <a:off x="548640" y="896112"/>
            <a:ext cx="10058400" cy="320040"/>
          </a:xfrm>
          <a:prstGeom prst="rect">
            <a:avLst/>
          </a:prstGeom>
          <a:noFill/>
          <a:ln/>
        </p:spPr>
        <p:txBody>
          <a:bodyPr wrap="square" lIns="0" tIns="0" rIns="0" bIns="0" rtlCol="0" anchor="ctr"/>
          <a:lstStyle/>
          <a:p>
            <a:pPr marL="0" indent="0">
              <a:buNone/>
            </a:pPr>
            <a:r>
              <a:rPr lang="en-US" sz="1300" i="1" dirty="0">
                <a:solidFill>
                  <a:srgbClr val="6B7690"/>
                </a:solidFill>
                <a:latin typeface="Calibri" pitchFamily="34" charset="0"/>
                <a:ea typeface="Calibri" pitchFamily="34" charset="-122"/>
                <a:cs typeface="Calibri" pitchFamily="34" charset="-120"/>
              </a:rPr>
              <a:t>Total equity vs. total debt (borrowings + IFRS 16 lease liabilities), Rm</a:t>
            </a:r>
            <a:endParaRPr lang="en-US" sz="1300" dirty="0"/>
          </a:p>
        </p:txBody>
      </p:sp>
      <p:graphicFrame>
        <p:nvGraphicFramePr>
          <p:cNvPr id="4" name="Chart 0"/>
          <p:cNvGraphicFramePr/>
          <p:nvPr/>
        </p:nvGraphicFramePr>
        <p:xfrm>
          <a:off x="548640" y="1371600"/>
          <a:ext cx="672084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543800" y="1417320"/>
            <a:ext cx="406908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Key Observations</a:t>
            </a:r>
            <a:endParaRPr lang="en-US" sz="1500" dirty="0"/>
          </a:p>
        </p:txBody>
      </p:sp>
      <p:sp>
        <p:nvSpPr>
          <p:cNvPr id="6" name="Shape 3"/>
          <p:cNvSpPr/>
          <p:nvPr/>
        </p:nvSpPr>
        <p:spPr>
          <a:xfrm>
            <a:off x="7543800" y="1874520"/>
            <a:ext cx="329184" cy="329184"/>
          </a:xfrm>
          <a:prstGeom prst="ellipse">
            <a:avLst/>
          </a:prstGeom>
          <a:solidFill>
            <a:srgbClr val="1E2761"/>
          </a:solidFill>
          <a:ln/>
        </p:spPr>
        <p:txBody>
          <a:bodyPr/>
          <a:lstStyle/>
          <a:p>
            <a:endParaRPr lang="en-ZA"/>
          </a:p>
        </p:txBody>
      </p:sp>
      <p:sp>
        <p:nvSpPr>
          <p:cNvPr id="7" name="Text 4"/>
          <p:cNvSpPr/>
          <p:nvPr/>
        </p:nvSpPr>
        <p:spPr>
          <a:xfrm>
            <a:off x="7543800" y="1874520"/>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8046720" y="1819656"/>
            <a:ext cx="3566160" cy="1280160"/>
          </a:xfrm>
          <a:prstGeom prst="rect">
            <a:avLst/>
          </a:prstGeom>
          <a:noFill/>
          <a:ln/>
        </p:spPr>
        <p:txBody>
          <a:bodyPr wrap="square" lIns="0" tIns="0" rIns="0" bIns="0" rtlCol="0" anchor="t"/>
          <a:lstStyle/>
          <a:p>
            <a:pPr marL="0" indent="0">
              <a:lnSpc>
                <a:spcPct val="108000"/>
              </a:lnSpc>
              <a:buNone/>
            </a:pPr>
            <a:r>
              <a:rPr lang="en-US" sz="1250" dirty="0">
                <a:solidFill>
                  <a:srgbClr val="35405C"/>
                </a:solidFill>
                <a:latin typeface="Calibri" pitchFamily="34" charset="0"/>
                <a:ea typeface="Calibri" pitchFamily="34" charset="-122"/>
                <a:cs typeface="Calibri" pitchFamily="34" charset="-120"/>
              </a:rPr>
              <a:t>FY2024 equity turned negative (R(293)m) as debt peaked at R11.4bn - the low point of the turnaround.</a:t>
            </a:r>
            <a:endParaRPr lang="en-US" sz="1250" dirty="0"/>
          </a:p>
        </p:txBody>
      </p:sp>
      <p:sp>
        <p:nvSpPr>
          <p:cNvPr id="9" name="Shape 6"/>
          <p:cNvSpPr/>
          <p:nvPr/>
        </p:nvSpPr>
        <p:spPr>
          <a:xfrm>
            <a:off x="7543800" y="3291840"/>
            <a:ext cx="329184" cy="329184"/>
          </a:xfrm>
          <a:prstGeom prst="ellipse">
            <a:avLst/>
          </a:prstGeom>
          <a:solidFill>
            <a:srgbClr val="1E2761"/>
          </a:solidFill>
          <a:ln/>
        </p:spPr>
        <p:txBody>
          <a:bodyPr/>
          <a:lstStyle/>
          <a:p>
            <a:endParaRPr lang="en-ZA"/>
          </a:p>
        </p:txBody>
      </p:sp>
      <p:sp>
        <p:nvSpPr>
          <p:cNvPr id="10" name="Text 7"/>
          <p:cNvSpPr/>
          <p:nvPr/>
        </p:nvSpPr>
        <p:spPr>
          <a:xfrm>
            <a:off x="7543800" y="3291840"/>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p:nvPr/>
        </p:nvSpPr>
        <p:spPr>
          <a:xfrm>
            <a:off x="8046720" y="3236976"/>
            <a:ext cx="3566160" cy="1280160"/>
          </a:xfrm>
          <a:prstGeom prst="rect">
            <a:avLst/>
          </a:prstGeom>
          <a:noFill/>
          <a:ln/>
        </p:spPr>
        <p:txBody>
          <a:bodyPr wrap="square" lIns="0" tIns="0" rIns="0" bIns="0" rtlCol="0" anchor="t"/>
          <a:lstStyle/>
          <a:p>
            <a:pPr marL="0" indent="0">
              <a:lnSpc>
                <a:spcPct val="108000"/>
              </a:lnSpc>
              <a:buNone/>
            </a:pPr>
            <a:r>
              <a:rPr lang="en-US" sz="1250" dirty="0">
                <a:solidFill>
                  <a:srgbClr val="35405C"/>
                </a:solidFill>
                <a:latin typeface="Calibri" pitchFamily="34" charset="0"/>
                <a:ea typeface="Calibri" pitchFamily="34" charset="-122"/>
                <a:cs typeface="Calibri" pitchFamily="34" charset="-120"/>
              </a:rPr>
              <a:t>FY2025 rights offer flipped the structure: debt fell to R1.15bn, equity rebounded to R11.0bn.</a:t>
            </a:r>
            <a:endParaRPr lang="en-US" sz="1250" dirty="0"/>
          </a:p>
        </p:txBody>
      </p:sp>
      <p:sp>
        <p:nvSpPr>
          <p:cNvPr id="12" name="Shape 9"/>
          <p:cNvSpPr/>
          <p:nvPr/>
        </p:nvSpPr>
        <p:spPr>
          <a:xfrm>
            <a:off x="7543800" y="4709160"/>
            <a:ext cx="329184" cy="329184"/>
          </a:xfrm>
          <a:prstGeom prst="ellipse">
            <a:avLst/>
          </a:prstGeom>
          <a:solidFill>
            <a:srgbClr val="1E2761"/>
          </a:solidFill>
          <a:ln/>
        </p:spPr>
        <p:txBody>
          <a:bodyPr/>
          <a:lstStyle/>
          <a:p>
            <a:endParaRPr lang="en-ZA"/>
          </a:p>
        </p:txBody>
      </p:sp>
      <p:sp>
        <p:nvSpPr>
          <p:cNvPr id="13" name="Text 10"/>
          <p:cNvSpPr/>
          <p:nvPr/>
        </p:nvSpPr>
        <p:spPr>
          <a:xfrm>
            <a:off x="7543800" y="4709160"/>
            <a:ext cx="329184"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1"/>
          <p:cNvSpPr/>
          <p:nvPr/>
        </p:nvSpPr>
        <p:spPr>
          <a:xfrm>
            <a:off x="8046720" y="4654296"/>
            <a:ext cx="3566160" cy="1280160"/>
          </a:xfrm>
          <a:prstGeom prst="rect">
            <a:avLst/>
          </a:prstGeom>
          <a:noFill/>
          <a:ln/>
        </p:spPr>
        <p:txBody>
          <a:bodyPr wrap="square" lIns="0" tIns="0" rIns="0" bIns="0" rtlCol="0" anchor="t"/>
          <a:lstStyle/>
          <a:p>
            <a:pPr marL="0" indent="0">
              <a:lnSpc>
                <a:spcPct val="108000"/>
              </a:lnSpc>
              <a:buNone/>
            </a:pPr>
            <a:r>
              <a:rPr lang="en-US" sz="1250" dirty="0">
                <a:solidFill>
                  <a:srgbClr val="35405C"/>
                </a:solidFill>
                <a:latin typeface="Calibri" pitchFamily="34" charset="0"/>
                <a:ea typeface="Calibri" pitchFamily="34" charset="-122"/>
                <a:cs typeface="Calibri" pitchFamily="34" charset="-120"/>
              </a:rPr>
              <a:t>By FY2026 debt is almost fully cleared (R200m) with equity holding above R10.7bn — a decisive shift toward equity funding.</a:t>
            </a:r>
            <a:endParaRPr lang="en-US" sz="1250" dirty="0"/>
          </a:p>
        </p:txBody>
      </p:sp>
      <p:sp>
        <p:nvSpPr>
          <p:cNvPr id="15" name="Text 12"/>
          <p:cNvSpPr/>
          <p:nvPr/>
        </p:nvSpPr>
        <p:spPr>
          <a:xfrm>
            <a:off x="457200" y="6565392"/>
            <a:ext cx="7315200" cy="228600"/>
          </a:xfrm>
          <a:prstGeom prst="rect">
            <a:avLst/>
          </a:prstGeom>
          <a:noFill/>
          <a:ln/>
        </p:spPr>
        <p:txBody>
          <a:bodyPr wrap="square" lIns="0" tIns="0" rIns="0" bIns="0" rtlCol="0" anchor="ctr"/>
          <a:lstStyle/>
          <a:p>
            <a:pPr marL="0" indent="0">
              <a:buNone/>
            </a:pPr>
            <a:r>
              <a:rPr lang="en-US" sz="900" dirty="0">
                <a:solidFill>
                  <a:srgbClr val="6B7690"/>
                </a:solidFill>
                <a:latin typeface="Calibri" pitchFamily="34" charset="0"/>
                <a:ea typeface="Calibri" pitchFamily="34" charset="-122"/>
                <a:cs typeface="Calibri" pitchFamily="34" charset="-120"/>
              </a:rPr>
              <a:t>Financing Strategy — Capital Structure</a:t>
            </a:r>
            <a:endParaRPr lang="en-US" sz="900" dirty="0"/>
          </a:p>
        </p:txBody>
      </p:sp>
      <p:sp>
        <p:nvSpPr>
          <p:cNvPr id="16" name="Text 13"/>
          <p:cNvSpPr/>
          <p:nvPr/>
        </p:nvSpPr>
        <p:spPr>
          <a:xfrm>
            <a:off x="11247120" y="6565392"/>
            <a:ext cx="457200" cy="228600"/>
          </a:xfrm>
          <a:prstGeom prst="rect">
            <a:avLst/>
          </a:prstGeom>
          <a:noFill/>
          <a:ln/>
        </p:spPr>
        <p:txBody>
          <a:bodyPr wrap="square" lIns="0" tIns="0" rIns="0" bIns="0" rtlCol="0" anchor="ctr"/>
          <a:lstStyle/>
          <a:p>
            <a:pPr marL="0" indent="0" algn="r">
              <a:buNone/>
            </a:pPr>
            <a:r>
              <a:rPr lang="en-US" sz="900" dirty="0">
                <a:solidFill>
                  <a:srgbClr val="6B76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Sources of Finance</a:t>
            </a:r>
            <a:endParaRPr lang="en-US" sz="2800" dirty="0"/>
          </a:p>
        </p:txBody>
      </p:sp>
      <p:sp>
        <p:nvSpPr>
          <p:cNvPr id="3" name="Text 1"/>
          <p:cNvSpPr/>
          <p:nvPr/>
        </p:nvSpPr>
        <p:spPr>
          <a:xfrm>
            <a:off x="548640" y="896112"/>
            <a:ext cx="10058400" cy="320040"/>
          </a:xfrm>
          <a:prstGeom prst="rect">
            <a:avLst/>
          </a:prstGeom>
          <a:noFill/>
          <a:ln/>
        </p:spPr>
        <p:txBody>
          <a:bodyPr wrap="square" lIns="0" tIns="0" rIns="0" bIns="0" rtlCol="0" anchor="ctr"/>
          <a:lstStyle/>
          <a:p>
            <a:pPr marL="0" indent="0">
              <a:buNone/>
            </a:pPr>
            <a:r>
              <a:rPr lang="en-US" sz="1300" i="1" dirty="0">
                <a:solidFill>
                  <a:srgbClr val="6B7690"/>
                </a:solidFill>
                <a:latin typeface="Calibri" pitchFamily="34" charset="0"/>
                <a:ea typeface="Calibri" pitchFamily="34" charset="-122"/>
                <a:cs typeface="Calibri" pitchFamily="34" charset="-120"/>
              </a:rPr>
              <a:t>Where Pick n Pay's funding actually comes from, FY2022 → FY2026 (Rm)</a:t>
            </a:r>
            <a:endParaRPr lang="en-US" sz="1300" dirty="0"/>
          </a:p>
        </p:txBody>
      </p:sp>
      <p:sp>
        <p:nvSpPr>
          <p:cNvPr id="4" name="Shape 2"/>
          <p:cNvSpPr/>
          <p:nvPr/>
        </p:nvSpPr>
        <p:spPr>
          <a:xfrm>
            <a:off x="548640" y="1417320"/>
            <a:ext cx="5349240" cy="4846320"/>
          </a:xfrm>
          <a:prstGeom prst="roundRect">
            <a:avLst>
              <a:gd name="adj" fmla="val 1698"/>
            </a:avLst>
          </a:prstGeom>
          <a:solidFill>
            <a:srgbClr val="FFFFFF"/>
          </a:solidFill>
          <a:ln w="12700">
            <a:solidFill>
              <a:srgbClr val="E4E7EF"/>
            </a:solidFill>
            <a:prstDash val="solid"/>
          </a:ln>
          <a:effectLst>
            <a:outerShdw blurRad="101600" dist="25400" dir="5400000" algn="bl" rotWithShape="0">
              <a:srgbClr val="9AA5C7">
                <a:alpha val="25000"/>
              </a:srgbClr>
            </a:outerShdw>
          </a:effectLst>
        </p:spPr>
        <p:txBody>
          <a:bodyPr/>
          <a:lstStyle/>
          <a:p>
            <a:endParaRPr lang="en-ZA"/>
          </a:p>
        </p:txBody>
      </p:sp>
      <p:sp>
        <p:nvSpPr>
          <p:cNvPr id="5" name="Text 3"/>
          <p:cNvSpPr/>
          <p:nvPr/>
        </p:nvSpPr>
        <p:spPr>
          <a:xfrm>
            <a:off x="868680" y="1645920"/>
            <a:ext cx="4709160" cy="365760"/>
          </a:xfrm>
          <a:prstGeom prst="rect">
            <a:avLst/>
          </a:prstGeom>
          <a:noFill/>
          <a:ln/>
        </p:spPr>
        <p:txBody>
          <a:bodyPr wrap="square" lIns="0" tIns="0" rIns="0" bIns="0"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EQUITY FINANCING</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3749700466"/>
              </p:ext>
            </p:extLst>
          </p:nvPr>
        </p:nvGraphicFramePr>
        <p:xfrm>
          <a:off x="868680" y="2075688"/>
          <a:ext cx="4709160" cy="1082040"/>
        </p:xfrm>
        <a:graphic>
          <a:graphicData uri="http://schemas.openxmlformats.org/drawingml/2006/table">
            <a:tbl>
              <a:tblPr/>
              <a:tblGrid>
                <a:gridCol w="784860">
                  <a:extLst>
                    <a:ext uri="{9D8B030D-6E8A-4147-A177-3AD203B41FA5}">
                      <a16:colId xmlns:a16="http://schemas.microsoft.com/office/drawing/2014/main" val="20000"/>
                    </a:ext>
                  </a:extLst>
                </a:gridCol>
                <a:gridCol w="784860">
                  <a:extLst>
                    <a:ext uri="{9D8B030D-6E8A-4147-A177-3AD203B41FA5}">
                      <a16:colId xmlns:a16="http://schemas.microsoft.com/office/drawing/2014/main" val="20001"/>
                    </a:ext>
                  </a:extLst>
                </a:gridCol>
                <a:gridCol w="784860">
                  <a:extLst>
                    <a:ext uri="{9D8B030D-6E8A-4147-A177-3AD203B41FA5}">
                      <a16:colId xmlns:a16="http://schemas.microsoft.com/office/drawing/2014/main" val="20002"/>
                    </a:ext>
                  </a:extLst>
                </a:gridCol>
                <a:gridCol w="784860">
                  <a:extLst>
                    <a:ext uri="{9D8B030D-6E8A-4147-A177-3AD203B41FA5}">
                      <a16:colId xmlns:a16="http://schemas.microsoft.com/office/drawing/2014/main" val="20003"/>
                    </a:ext>
                  </a:extLst>
                </a:gridCol>
                <a:gridCol w="784860">
                  <a:extLst>
                    <a:ext uri="{9D8B030D-6E8A-4147-A177-3AD203B41FA5}">
                      <a16:colId xmlns:a16="http://schemas.microsoft.com/office/drawing/2014/main" val="20004"/>
                    </a:ext>
                  </a:extLst>
                </a:gridCol>
                <a:gridCol w="784860">
                  <a:extLst>
                    <a:ext uri="{9D8B030D-6E8A-4147-A177-3AD203B41FA5}">
                      <a16:colId xmlns:a16="http://schemas.microsoft.com/office/drawing/2014/main" val="20005"/>
                    </a:ext>
                  </a:extLst>
                </a:gridCol>
              </a:tblGrid>
              <a:tr h="259080">
                <a:tc>
                  <a:txBody>
                    <a:bodyPr/>
                    <a:lstStyle/>
                    <a:p>
                      <a:pPr marL="0" indent="0">
                        <a:buNone/>
                      </a:pPr>
                      <a:r>
                        <a:rPr lang="en-US" sz="1000" b="1" dirty="0">
                          <a:solidFill>
                            <a:srgbClr val="FFFFFF"/>
                          </a:solidFill>
                        </a:rPr>
                        <a:t>Rm</a:t>
                      </a:r>
                      <a:endParaRPr lang="en-US" sz="100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rPr>
                        <a:t>2022</a:t>
                      </a:r>
                      <a:endParaRPr lang="en-US" sz="100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rPr>
                        <a:t>2023</a:t>
                      </a:r>
                      <a:endParaRPr lang="en-US" sz="100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rPr>
                        <a:t>2024</a:t>
                      </a:r>
                      <a:endParaRPr lang="en-US" sz="100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rPr>
                        <a:t>2025</a:t>
                      </a:r>
                      <a:endParaRPr lang="en-US" sz="100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rPr>
                        <a:t>2026</a:t>
                      </a:r>
                      <a:endParaRPr lang="en-US" sz="100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9080">
                <a:tc>
                  <a:txBody>
                    <a:bodyPr/>
                    <a:lstStyle/>
                    <a:p>
                      <a:pPr marL="0" indent="0">
                        <a:buNone/>
                      </a:pPr>
                      <a:r>
                        <a:rPr lang="en-US" sz="1050" b="1" dirty="0">
                          <a:solidFill>
                            <a:srgbClr val="35405C"/>
                          </a:solidFill>
                        </a:rPr>
                        <a:t>Share Capital</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6</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6</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6</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3883</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3883</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extLst>
                  <a:ext uri="{0D108BD9-81ED-4DB2-BD59-A6C34878D82A}">
                    <a16:rowId xmlns:a16="http://schemas.microsoft.com/office/drawing/2014/main" val="10001"/>
                  </a:ext>
                </a:extLst>
              </a:tr>
              <a:tr h="259080">
                <a:tc>
                  <a:txBody>
                    <a:bodyPr/>
                    <a:lstStyle/>
                    <a:p>
                      <a:pPr marL="0" indent="0">
                        <a:buNone/>
                      </a:pPr>
                      <a:r>
                        <a:rPr lang="en-US" sz="1050" b="1" dirty="0">
                          <a:solidFill>
                            <a:srgbClr val="35405C"/>
                          </a:solidFill>
                        </a:rPr>
                        <a:t>Retained Earnings</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4,717.3</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4,685.2</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646</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7,301</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tc>
                  <a:txBody>
                    <a:bodyPr/>
                    <a:lstStyle/>
                    <a:p>
                      <a:pPr marL="0" indent="0" algn="ctr">
                        <a:buNone/>
                      </a:pPr>
                      <a:r>
                        <a:rPr lang="en-US" sz="1050" dirty="0">
                          <a:solidFill>
                            <a:srgbClr val="35405C"/>
                          </a:solidFill>
                        </a:rPr>
                        <a:t>6,588</a:t>
                      </a:r>
                      <a:endParaRPr lang="en-US" sz="1050" dirty="0"/>
                    </a:p>
                  </a:txBody>
                  <a:tcPr>
                    <a:lnL w="6350" cap="flat" cmpd="sng" algn="ctr">
                      <a:solidFill>
                        <a:srgbClr val="E4E7EF"/>
                      </a:solidFill>
                      <a:prstDash val="solid"/>
                      <a:round/>
                      <a:headEnd type="none" w="med" len="med"/>
                      <a:tailEnd type="none" w="med" len="med"/>
                    </a:lnL>
                    <a:lnR w="6350" cap="flat" cmpd="sng" algn="ctr">
                      <a:solidFill>
                        <a:srgbClr val="E4E7EF"/>
                      </a:solidFill>
                      <a:prstDash val="solid"/>
                      <a:round/>
                      <a:headEnd type="none" w="med" len="med"/>
                      <a:tailEnd type="none" w="med" len="med"/>
                    </a:lnR>
                    <a:lnT w="6350" cap="flat" cmpd="sng" algn="ctr">
                      <a:solidFill>
                        <a:srgbClr val="E4E7EF"/>
                      </a:solidFill>
                      <a:prstDash val="solid"/>
                      <a:round/>
                      <a:headEnd type="none" w="med" len="med"/>
                      <a:tailEnd type="none" w="med" len="med"/>
                    </a:lnT>
                    <a:lnB w="6350" cap="flat" cmpd="sng" algn="ctr">
                      <a:solidFill>
                        <a:srgbClr val="E4E7E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868680" y="3017520"/>
            <a:ext cx="4709160" cy="777240"/>
          </a:xfrm>
          <a:prstGeom prst="rect">
            <a:avLst/>
          </a:prstGeom>
          <a:noFill/>
          <a:ln/>
        </p:spPr>
        <p:txBody>
          <a:bodyPr wrap="square" lIns="0" tIns="0" rIns="0" bIns="0"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Rights Offer (FY2025): </a:t>
            </a:r>
            <a:r>
              <a:rPr lang="en-US" sz="1200" dirty="0">
                <a:solidFill>
                  <a:srgbClr val="35405C"/>
                </a:solidFill>
                <a:latin typeface="Calibri" pitchFamily="34" charset="0"/>
                <a:ea typeface="Calibri" pitchFamily="34" charset="-122"/>
                <a:cs typeface="Calibri" pitchFamily="34" charset="-120"/>
              </a:rPr>
              <a:t>R3,877m raised in net proceeds - the single largest equity event in the period, done specifically to repair the balance sheet.</a:t>
            </a:r>
            <a:endParaRPr lang="en-US" sz="1200" dirty="0"/>
          </a:p>
        </p:txBody>
      </p:sp>
      <p:sp>
        <p:nvSpPr>
          <p:cNvPr id="8" name="Text 5"/>
          <p:cNvSpPr/>
          <p:nvPr/>
        </p:nvSpPr>
        <p:spPr>
          <a:xfrm>
            <a:off x="868680" y="3840480"/>
            <a:ext cx="4709160" cy="777240"/>
          </a:xfrm>
          <a:prstGeom prst="rect">
            <a:avLst/>
          </a:prstGeom>
          <a:noFill/>
          <a:ln/>
        </p:spPr>
        <p:txBody>
          <a:bodyPr wrap="square" lIns="0" tIns="0" rIns="0" bIns="0"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Dividends: </a:t>
            </a:r>
            <a:r>
              <a:rPr lang="en-US" sz="1200" dirty="0">
                <a:solidFill>
                  <a:srgbClr val="35405C"/>
                </a:solidFill>
                <a:latin typeface="Calibri" pitchFamily="34" charset="0"/>
                <a:ea typeface="Calibri" pitchFamily="34" charset="-122"/>
                <a:cs typeface="Calibri" pitchFamily="34" charset="-120"/>
              </a:rPr>
              <a:t>suspended from FY2024 onward, so profits are retained rather than distributed - internally financing the recovery.</a:t>
            </a:r>
            <a:endParaRPr lang="en-US" sz="1200" dirty="0"/>
          </a:p>
        </p:txBody>
      </p:sp>
      <p:sp>
        <p:nvSpPr>
          <p:cNvPr id="9" name="Text 6"/>
          <p:cNvSpPr/>
          <p:nvPr/>
        </p:nvSpPr>
        <p:spPr>
          <a:xfrm>
            <a:off x="868680" y="4663440"/>
            <a:ext cx="4709160" cy="457200"/>
          </a:xfrm>
          <a:prstGeom prst="rect">
            <a:avLst/>
          </a:prstGeom>
          <a:noFill/>
          <a:ln/>
        </p:spPr>
        <p:txBody>
          <a:bodyPr wrap="square" lIns="0" tIns="0" rIns="0" bIns="0" rtlCol="0" anchor="ctr"/>
          <a:lstStyle/>
          <a:p>
            <a:pPr marL="0" indent="0">
              <a:buNone/>
            </a:pPr>
            <a:r>
              <a:rPr lang="en-US" sz="1150" i="1" dirty="0">
                <a:solidFill>
                  <a:srgbClr val="6B7690"/>
                </a:solidFill>
                <a:latin typeface="Calibri" pitchFamily="34" charset="0"/>
                <a:ea typeface="Calibri" pitchFamily="34" charset="-122"/>
                <a:cs typeface="Calibri" pitchFamily="34" charset="-120"/>
              </a:rPr>
              <a:t>No new ordinary shares were issued outside the FY2025 rights offer.</a:t>
            </a:r>
            <a:endParaRPr lang="en-US" sz="1150" dirty="0"/>
          </a:p>
        </p:txBody>
      </p:sp>
      <p:sp>
        <p:nvSpPr>
          <p:cNvPr id="10" name="Shape 7"/>
          <p:cNvSpPr/>
          <p:nvPr/>
        </p:nvSpPr>
        <p:spPr>
          <a:xfrm>
            <a:off x="6263640" y="1417320"/>
            <a:ext cx="5349240" cy="4846320"/>
          </a:xfrm>
          <a:prstGeom prst="roundRect">
            <a:avLst>
              <a:gd name="adj" fmla="val 1698"/>
            </a:avLst>
          </a:prstGeom>
          <a:solidFill>
            <a:srgbClr val="1E2761"/>
          </a:solidFill>
          <a:ln/>
          <a:effectLst>
            <a:outerShdw blurRad="101600" dist="25400" dir="5400000" algn="bl" rotWithShape="0">
              <a:srgbClr val="9AA5C7">
                <a:alpha val="25000"/>
              </a:srgbClr>
            </a:outerShdw>
          </a:effectLst>
        </p:spPr>
        <p:txBody>
          <a:bodyPr/>
          <a:lstStyle/>
          <a:p>
            <a:endParaRPr lang="en-ZA"/>
          </a:p>
        </p:txBody>
      </p:sp>
      <p:sp>
        <p:nvSpPr>
          <p:cNvPr id="11" name="Text 8"/>
          <p:cNvSpPr/>
          <p:nvPr/>
        </p:nvSpPr>
        <p:spPr>
          <a:xfrm>
            <a:off x="6583680" y="1645920"/>
            <a:ext cx="4709160" cy="365760"/>
          </a:xfrm>
          <a:prstGeom prst="rect">
            <a:avLst/>
          </a:prstGeom>
          <a:noFill/>
          <a:ln/>
        </p:spPr>
        <p:txBody>
          <a:bodyPr wrap="square" lIns="0" tIns="0" rIns="0" bIns="0" rtlCol="0" anchor="ctr"/>
          <a:lstStyle/>
          <a:p>
            <a:pPr marL="0" indent="0">
              <a:buNone/>
            </a:pPr>
            <a:r>
              <a:rPr lang="en-US" sz="1300" b="1" kern="0" spc="150" dirty="0">
                <a:solidFill>
                  <a:srgbClr val="C9A227"/>
                </a:solidFill>
                <a:latin typeface="Calibri" pitchFamily="34" charset="0"/>
                <a:ea typeface="Calibri" pitchFamily="34" charset="-122"/>
                <a:cs typeface="Calibri" pitchFamily="34" charset="-120"/>
              </a:rPr>
              <a:t>DEBT &amp; OTHER FINANCING</a:t>
            </a:r>
            <a:endParaRPr lang="en-US" sz="1300" dirty="0"/>
          </a:p>
        </p:txBody>
      </p:sp>
      <p:graphicFrame>
        <p:nvGraphicFramePr>
          <p:cNvPr id="12" name="Table 1"/>
          <p:cNvGraphicFramePr>
            <a:graphicFrameLocks noGrp="1"/>
          </p:cNvGraphicFramePr>
          <p:nvPr>
            <p:extLst>
              <p:ext uri="{D42A27DB-BD31-4B8C-83A1-F6EECF244321}">
                <p14:modId xmlns:p14="http://schemas.microsoft.com/office/powerpoint/2010/main" val="2963348867"/>
              </p:ext>
            </p:extLst>
          </p:nvPr>
        </p:nvGraphicFramePr>
        <p:xfrm>
          <a:off x="6583680" y="2075688"/>
          <a:ext cx="4709160" cy="1744980"/>
        </p:xfrm>
        <a:graphic>
          <a:graphicData uri="http://schemas.openxmlformats.org/drawingml/2006/table">
            <a:tbl>
              <a:tblPr/>
              <a:tblGrid>
                <a:gridCol w="784860">
                  <a:extLst>
                    <a:ext uri="{9D8B030D-6E8A-4147-A177-3AD203B41FA5}">
                      <a16:colId xmlns:a16="http://schemas.microsoft.com/office/drawing/2014/main" val="20000"/>
                    </a:ext>
                  </a:extLst>
                </a:gridCol>
                <a:gridCol w="784860">
                  <a:extLst>
                    <a:ext uri="{9D8B030D-6E8A-4147-A177-3AD203B41FA5}">
                      <a16:colId xmlns:a16="http://schemas.microsoft.com/office/drawing/2014/main" val="20001"/>
                    </a:ext>
                  </a:extLst>
                </a:gridCol>
                <a:gridCol w="784860">
                  <a:extLst>
                    <a:ext uri="{9D8B030D-6E8A-4147-A177-3AD203B41FA5}">
                      <a16:colId xmlns:a16="http://schemas.microsoft.com/office/drawing/2014/main" val="20002"/>
                    </a:ext>
                  </a:extLst>
                </a:gridCol>
                <a:gridCol w="784860">
                  <a:extLst>
                    <a:ext uri="{9D8B030D-6E8A-4147-A177-3AD203B41FA5}">
                      <a16:colId xmlns:a16="http://schemas.microsoft.com/office/drawing/2014/main" val="20003"/>
                    </a:ext>
                  </a:extLst>
                </a:gridCol>
                <a:gridCol w="784860">
                  <a:extLst>
                    <a:ext uri="{9D8B030D-6E8A-4147-A177-3AD203B41FA5}">
                      <a16:colId xmlns:a16="http://schemas.microsoft.com/office/drawing/2014/main" val="20004"/>
                    </a:ext>
                  </a:extLst>
                </a:gridCol>
                <a:gridCol w="784860">
                  <a:extLst>
                    <a:ext uri="{9D8B030D-6E8A-4147-A177-3AD203B41FA5}">
                      <a16:colId xmlns:a16="http://schemas.microsoft.com/office/drawing/2014/main" val="20005"/>
                    </a:ext>
                  </a:extLst>
                </a:gridCol>
              </a:tblGrid>
              <a:tr h="251460">
                <a:tc>
                  <a:txBody>
                    <a:bodyPr/>
                    <a:lstStyle/>
                    <a:p>
                      <a:pPr marL="0" indent="0">
                        <a:buNone/>
                      </a:pPr>
                      <a:r>
                        <a:rPr lang="en-US" sz="950" b="1" dirty="0">
                          <a:solidFill>
                            <a:srgbClr val="1E2761"/>
                          </a:solidFill>
                        </a:rPr>
                        <a:t>Rm</a:t>
                      </a:r>
                      <a:endParaRPr lang="en-US" sz="95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solidFill>
                      <a:srgbClr val="CADCFC"/>
                    </a:solidFill>
                  </a:tcPr>
                </a:tc>
                <a:tc>
                  <a:txBody>
                    <a:bodyPr/>
                    <a:lstStyle/>
                    <a:p>
                      <a:pPr marL="0" indent="0" algn="ctr">
                        <a:buNone/>
                      </a:pPr>
                      <a:r>
                        <a:rPr lang="en-US" sz="950" b="1" dirty="0">
                          <a:solidFill>
                            <a:srgbClr val="1E2761"/>
                          </a:solidFill>
                        </a:rPr>
                        <a:t>2022</a:t>
                      </a:r>
                      <a:endParaRPr lang="en-US" sz="95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solidFill>
                      <a:srgbClr val="CADCFC"/>
                    </a:solidFill>
                  </a:tcPr>
                </a:tc>
                <a:tc>
                  <a:txBody>
                    <a:bodyPr/>
                    <a:lstStyle/>
                    <a:p>
                      <a:pPr marL="0" indent="0" algn="ctr">
                        <a:buNone/>
                      </a:pPr>
                      <a:r>
                        <a:rPr lang="en-US" sz="950" b="1" dirty="0">
                          <a:solidFill>
                            <a:srgbClr val="1E2761"/>
                          </a:solidFill>
                        </a:rPr>
                        <a:t>2023</a:t>
                      </a:r>
                      <a:endParaRPr lang="en-US" sz="95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solidFill>
                      <a:srgbClr val="CADCFC"/>
                    </a:solidFill>
                  </a:tcPr>
                </a:tc>
                <a:tc>
                  <a:txBody>
                    <a:bodyPr/>
                    <a:lstStyle/>
                    <a:p>
                      <a:pPr marL="0" indent="0" algn="ctr">
                        <a:buNone/>
                      </a:pPr>
                      <a:r>
                        <a:rPr lang="en-US" sz="950" b="1" dirty="0">
                          <a:solidFill>
                            <a:srgbClr val="1E2761"/>
                          </a:solidFill>
                        </a:rPr>
                        <a:t>2024</a:t>
                      </a:r>
                      <a:endParaRPr lang="en-US" sz="95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solidFill>
                      <a:srgbClr val="CADCFC"/>
                    </a:solidFill>
                  </a:tcPr>
                </a:tc>
                <a:tc>
                  <a:txBody>
                    <a:bodyPr/>
                    <a:lstStyle/>
                    <a:p>
                      <a:pPr marL="0" indent="0" algn="ctr">
                        <a:buNone/>
                      </a:pPr>
                      <a:r>
                        <a:rPr lang="en-US" sz="950" b="1" dirty="0">
                          <a:solidFill>
                            <a:srgbClr val="1E2761"/>
                          </a:solidFill>
                        </a:rPr>
                        <a:t>2025</a:t>
                      </a:r>
                      <a:endParaRPr lang="en-US" sz="95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solidFill>
                      <a:srgbClr val="CADCFC"/>
                    </a:solidFill>
                  </a:tcPr>
                </a:tc>
                <a:tc>
                  <a:txBody>
                    <a:bodyPr/>
                    <a:lstStyle/>
                    <a:p>
                      <a:pPr marL="0" indent="0" algn="ctr">
                        <a:buNone/>
                      </a:pPr>
                      <a:r>
                        <a:rPr lang="en-US" sz="950" b="1" dirty="0">
                          <a:solidFill>
                            <a:srgbClr val="1E2761"/>
                          </a:solidFill>
                        </a:rPr>
                        <a:t>2026</a:t>
                      </a:r>
                      <a:endParaRPr lang="en-US" sz="95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solidFill>
                      <a:srgbClr val="CADCFC"/>
                    </a:solidFill>
                  </a:tcPr>
                </a:tc>
                <a:extLst>
                  <a:ext uri="{0D108BD9-81ED-4DB2-BD59-A6C34878D82A}">
                    <a16:rowId xmlns:a16="http://schemas.microsoft.com/office/drawing/2014/main" val="10000"/>
                  </a:ext>
                </a:extLst>
              </a:tr>
              <a:tr h="251460">
                <a:tc>
                  <a:txBody>
                    <a:bodyPr/>
                    <a:lstStyle/>
                    <a:p>
                      <a:pPr marL="0" indent="0">
                        <a:buNone/>
                      </a:pPr>
                      <a:r>
                        <a:rPr lang="en-US" sz="1000" b="1" dirty="0">
                          <a:solidFill>
                            <a:srgbClr val="FFFFFF"/>
                          </a:solidFill>
                        </a:rPr>
                        <a:t>Borrowings</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6,803.2</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5,669.4</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11,445</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1,150</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200</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extLst>
                  <a:ext uri="{0D108BD9-81ED-4DB2-BD59-A6C34878D82A}">
                    <a16:rowId xmlns:a16="http://schemas.microsoft.com/office/drawing/2014/main" val="10001"/>
                  </a:ext>
                </a:extLst>
              </a:tr>
              <a:tr h="251460">
                <a:tc>
                  <a:txBody>
                    <a:bodyPr/>
                    <a:lstStyle/>
                    <a:p>
                      <a:pPr marL="0" indent="0">
                        <a:buNone/>
                      </a:pPr>
                      <a:r>
                        <a:rPr lang="en-US" sz="1000" b="1" dirty="0">
                          <a:solidFill>
                            <a:srgbClr val="FFFFFF"/>
                          </a:solidFill>
                        </a:rPr>
                        <a:t>Lease Liabilities (IFRS 16)</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16,087.9</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17,604</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19,706</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19,120</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18,535</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extLst>
                  <a:ext uri="{0D108BD9-81ED-4DB2-BD59-A6C34878D82A}">
                    <a16:rowId xmlns:a16="http://schemas.microsoft.com/office/drawing/2014/main" val="10002"/>
                  </a:ext>
                </a:extLst>
              </a:tr>
              <a:tr h="251460">
                <a:tc>
                  <a:txBody>
                    <a:bodyPr/>
                    <a:lstStyle/>
                    <a:p>
                      <a:pPr marL="0" indent="0">
                        <a:buNone/>
                      </a:pPr>
                      <a:r>
                        <a:rPr lang="en-US" sz="1000" b="1" dirty="0">
                          <a:solidFill>
                            <a:srgbClr val="FFFFFF"/>
                          </a:solidFill>
                        </a:rPr>
                        <a:t>Trade &amp; Other Payables</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12,976.4</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14,661</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15,354</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15,036</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tc>
                  <a:txBody>
                    <a:bodyPr/>
                    <a:lstStyle/>
                    <a:p>
                      <a:pPr marL="0" indent="0" algn="ctr">
                        <a:buNone/>
                      </a:pPr>
                      <a:r>
                        <a:rPr lang="en-US" sz="1000" dirty="0">
                          <a:solidFill>
                            <a:srgbClr val="CADCFC"/>
                          </a:solidFill>
                        </a:rPr>
                        <a:t>15,326</a:t>
                      </a:r>
                      <a:endParaRPr lang="en-US" sz="1000" dirty="0"/>
                    </a:p>
                  </a:txBody>
                  <a:tcPr>
                    <a:lnL w="6350" cap="flat" cmpd="sng" algn="ctr">
                      <a:solidFill>
                        <a:srgbClr val="2B3572"/>
                      </a:solidFill>
                      <a:prstDash val="solid"/>
                      <a:round/>
                      <a:headEnd type="none" w="med" len="med"/>
                      <a:tailEnd type="none" w="med" len="med"/>
                    </a:lnL>
                    <a:lnR w="6350" cap="flat" cmpd="sng" algn="ctr">
                      <a:solidFill>
                        <a:srgbClr val="2B3572"/>
                      </a:solidFill>
                      <a:prstDash val="solid"/>
                      <a:round/>
                      <a:headEnd type="none" w="med" len="med"/>
                      <a:tailEnd type="none" w="med" len="med"/>
                    </a:lnR>
                    <a:lnT w="6350" cap="flat" cmpd="sng" algn="ctr">
                      <a:solidFill>
                        <a:srgbClr val="2B3572"/>
                      </a:solidFill>
                      <a:prstDash val="solid"/>
                      <a:round/>
                      <a:headEnd type="none" w="med" len="med"/>
                      <a:tailEnd type="none" w="med" len="med"/>
                    </a:lnT>
                    <a:lnB w="6350" cap="flat" cmpd="sng" algn="ctr">
                      <a:solidFill>
                        <a:srgbClr val="2B357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Text 9"/>
          <p:cNvSpPr/>
          <p:nvPr/>
        </p:nvSpPr>
        <p:spPr>
          <a:xfrm>
            <a:off x="6583680" y="3614986"/>
            <a:ext cx="4709160" cy="777240"/>
          </a:xfrm>
          <a:prstGeom prst="rect">
            <a:avLst/>
          </a:prstGeom>
          <a:noFill/>
          <a:ln/>
        </p:spPr>
        <p:txBody>
          <a:bodyPr wrap="square" lIns="0" tIns="0" rIns="0" bIns="0" rtlCol="0" anchor="ctr"/>
          <a:lstStyle/>
          <a:p>
            <a:pPr marL="0" indent="0">
              <a:lnSpc>
                <a:spcPct val="110000"/>
              </a:lnSpc>
              <a:buNone/>
            </a:pPr>
            <a:r>
              <a:rPr lang="en-US" sz="1200" b="1" dirty="0">
                <a:solidFill>
                  <a:srgbClr val="C9A227"/>
                </a:solidFill>
                <a:latin typeface="Calibri" pitchFamily="34" charset="0"/>
                <a:ea typeface="Calibri" pitchFamily="34" charset="-122"/>
                <a:cs typeface="Calibri" pitchFamily="34" charset="-120"/>
              </a:rPr>
              <a:t>Borrowing mix: </a:t>
            </a:r>
            <a:r>
              <a:rPr lang="en-US" sz="1200" dirty="0">
                <a:solidFill>
                  <a:srgbClr val="CADCFC"/>
                </a:solidFill>
                <a:latin typeface="Calibri" pitchFamily="34" charset="0"/>
                <a:ea typeface="Calibri" pitchFamily="34" charset="-122"/>
                <a:cs typeface="Calibri" pitchFamily="34" charset="-120"/>
              </a:rPr>
              <a:t>short-term facilities dominated during the FY2024 crisis; by FY2026 conventional borrowings are almost eliminated.</a:t>
            </a:r>
            <a:endParaRPr lang="en-US" sz="1200" dirty="0"/>
          </a:p>
        </p:txBody>
      </p:sp>
      <p:sp>
        <p:nvSpPr>
          <p:cNvPr id="14" name="Text 10"/>
          <p:cNvSpPr/>
          <p:nvPr/>
        </p:nvSpPr>
        <p:spPr>
          <a:xfrm>
            <a:off x="6583680" y="4220905"/>
            <a:ext cx="4709160" cy="914400"/>
          </a:xfrm>
          <a:prstGeom prst="rect">
            <a:avLst/>
          </a:prstGeom>
          <a:noFill/>
          <a:ln/>
        </p:spPr>
        <p:txBody>
          <a:bodyPr wrap="square" lIns="0" tIns="0" rIns="0" bIns="0" rtlCol="0" anchor="ctr"/>
          <a:lstStyle/>
          <a:p>
            <a:pPr marL="0" indent="0">
              <a:lnSpc>
                <a:spcPct val="110000"/>
              </a:lnSpc>
              <a:buNone/>
            </a:pPr>
            <a:r>
              <a:rPr lang="en-US" sz="1200" b="1" dirty="0">
                <a:solidFill>
                  <a:srgbClr val="C9A227"/>
                </a:solidFill>
                <a:latin typeface="Calibri" pitchFamily="34" charset="0"/>
                <a:ea typeface="Calibri" pitchFamily="34" charset="-122"/>
                <a:cs typeface="Calibri" pitchFamily="34" charset="-120"/>
              </a:rPr>
              <a:t>Lease liabilities </a:t>
            </a:r>
            <a:r>
              <a:rPr lang="en-US" sz="1200" dirty="0">
                <a:solidFill>
                  <a:srgbClr val="CADCFC"/>
                </a:solidFill>
                <a:latin typeface="Calibri" pitchFamily="34" charset="0"/>
                <a:ea typeface="Calibri" pitchFamily="34" charset="-122"/>
                <a:cs typeface="Calibri" pitchFamily="34" charset="-120"/>
              </a:rPr>
              <a:t>(store leases under IFRS 16) are now the dominant form of “debt” — structurally tied to the store network rather than discretionary borrowing.</a:t>
            </a:r>
            <a:endParaRPr lang="en-US" sz="1200" dirty="0"/>
          </a:p>
        </p:txBody>
      </p:sp>
      <p:sp>
        <p:nvSpPr>
          <p:cNvPr id="15" name="Text 11"/>
          <p:cNvSpPr/>
          <p:nvPr/>
        </p:nvSpPr>
        <p:spPr>
          <a:xfrm>
            <a:off x="6583680" y="5029200"/>
            <a:ext cx="4709160" cy="54864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Trade payables have stayed broadly stable — not a lever management used to manage financing risk.</a:t>
            </a:r>
            <a:endParaRPr lang="en-US" sz="1150" dirty="0"/>
          </a:p>
        </p:txBody>
      </p:sp>
      <p:sp>
        <p:nvSpPr>
          <p:cNvPr id="16" name="Text 12"/>
          <p:cNvSpPr/>
          <p:nvPr/>
        </p:nvSpPr>
        <p:spPr>
          <a:xfrm>
            <a:off x="457200" y="6565392"/>
            <a:ext cx="7315200" cy="228600"/>
          </a:xfrm>
          <a:prstGeom prst="rect">
            <a:avLst/>
          </a:prstGeom>
          <a:noFill/>
          <a:ln/>
        </p:spPr>
        <p:txBody>
          <a:bodyPr wrap="square" lIns="0" tIns="0" rIns="0" bIns="0" rtlCol="0" anchor="ctr"/>
          <a:lstStyle/>
          <a:p>
            <a:pPr marL="0" indent="0">
              <a:buNone/>
            </a:pPr>
            <a:r>
              <a:rPr lang="en-US" sz="900" dirty="0">
                <a:solidFill>
                  <a:srgbClr val="6B7690"/>
                </a:solidFill>
                <a:latin typeface="Calibri" pitchFamily="34" charset="0"/>
                <a:ea typeface="Calibri" pitchFamily="34" charset="-122"/>
                <a:cs typeface="Calibri" pitchFamily="34" charset="-120"/>
              </a:rPr>
              <a:t>Financing Strategy — Sources of Finance</a:t>
            </a:r>
            <a:endParaRPr lang="en-US" sz="900" dirty="0"/>
          </a:p>
        </p:txBody>
      </p:sp>
      <p:sp>
        <p:nvSpPr>
          <p:cNvPr id="17" name="Text 13"/>
          <p:cNvSpPr/>
          <p:nvPr/>
        </p:nvSpPr>
        <p:spPr>
          <a:xfrm>
            <a:off x="11247120" y="6565392"/>
            <a:ext cx="457200" cy="228600"/>
          </a:xfrm>
          <a:prstGeom prst="rect">
            <a:avLst/>
          </a:prstGeom>
          <a:noFill/>
          <a:ln/>
        </p:spPr>
        <p:txBody>
          <a:bodyPr wrap="square" lIns="0" tIns="0" rIns="0" bIns="0" rtlCol="0" anchor="ctr"/>
          <a:lstStyle/>
          <a:p>
            <a:pPr marL="0" indent="0" algn="r">
              <a:buNone/>
            </a:pPr>
            <a:r>
              <a:rPr lang="en-US" sz="900" dirty="0">
                <a:solidFill>
                  <a:srgbClr val="6B76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789920" cy="5486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Financing Activities — Cash Flow Statement</a:t>
            </a:r>
            <a:endParaRPr lang="en-US" sz="2700" dirty="0"/>
          </a:p>
        </p:txBody>
      </p:sp>
      <p:sp>
        <p:nvSpPr>
          <p:cNvPr id="3" name="Text 1"/>
          <p:cNvSpPr/>
          <p:nvPr/>
        </p:nvSpPr>
        <p:spPr>
          <a:xfrm>
            <a:off x="548640" y="896112"/>
            <a:ext cx="10058400" cy="320040"/>
          </a:xfrm>
          <a:prstGeom prst="rect">
            <a:avLst/>
          </a:prstGeom>
          <a:noFill/>
          <a:ln/>
        </p:spPr>
        <p:txBody>
          <a:bodyPr wrap="square" lIns="0" tIns="0" rIns="0" bIns="0" rtlCol="0" anchor="ctr"/>
          <a:lstStyle/>
          <a:p>
            <a:pPr marL="0" indent="0">
              <a:buNone/>
            </a:pPr>
            <a:r>
              <a:rPr lang="en-US" sz="1300" i="1" dirty="0">
                <a:solidFill>
                  <a:srgbClr val="6B7690"/>
                </a:solidFill>
                <a:latin typeface="Calibri" pitchFamily="34" charset="0"/>
                <a:ea typeface="Calibri" pitchFamily="34" charset="-122"/>
                <a:cs typeface="Calibri" pitchFamily="34" charset="-120"/>
              </a:rPr>
              <a:t>Cash flows from financing activities, Rm</a:t>
            </a:r>
            <a:endParaRPr lang="en-US" sz="1300" dirty="0"/>
          </a:p>
        </p:txBody>
      </p:sp>
      <p:graphicFrame>
        <p:nvGraphicFramePr>
          <p:cNvPr id="4" name="Chart 0"/>
          <p:cNvGraphicFramePr/>
          <p:nvPr/>
        </p:nvGraphicFramePr>
        <p:xfrm>
          <a:off x="548640" y="1371600"/>
          <a:ext cx="704088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5806440"/>
            <a:ext cx="7040880" cy="320040"/>
          </a:xfrm>
          <a:prstGeom prst="rect">
            <a:avLst/>
          </a:prstGeom>
          <a:noFill/>
          <a:ln/>
        </p:spPr>
        <p:txBody>
          <a:bodyPr wrap="square" lIns="0" tIns="0" rIns="0" bIns="0" rtlCol="0" anchor="ctr"/>
          <a:lstStyle/>
          <a:p>
            <a:pPr marL="0" indent="0">
              <a:buNone/>
            </a:pPr>
            <a:r>
              <a:rPr lang="en-US" sz="1050" i="1" dirty="0">
                <a:solidFill>
                  <a:srgbClr val="6B7690"/>
                </a:solidFill>
                <a:latin typeface="Calibri" pitchFamily="34" charset="0"/>
                <a:ea typeface="Calibri" pitchFamily="34" charset="-122"/>
                <a:cs typeface="Calibri" pitchFamily="34" charset="-120"/>
              </a:rPr>
              <a:t>Note: FY2025 also includes R3,877m in net proceeds from the rights offer (equity, not shown above).</a:t>
            </a:r>
            <a:endParaRPr lang="en-US" sz="1050" dirty="0"/>
          </a:p>
        </p:txBody>
      </p:sp>
      <p:sp>
        <p:nvSpPr>
          <p:cNvPr id="6" name="Shape 3"/>
          <p:cNvSpPr/>
          <p:nvPr/>
        </p:nvSpPr>
        <p:spPr>
          <a:xfrm>
            <a:off x="7818120" y="1371600"/>
            <a:ext cx="3794760" cy="1965960"/>
          </a:xfrm>
          <a:prstGeom prst="roundRect">
            <a:avLst>
              <a:gd name="adj" fmla="val 3721"/>
            </a:avLst>
          </a:prstGeom>
          <a:solidFill>
            <a:srgbClr val="F4F6FB"/>
          </a:solidFill>
          <a:ln w="12700">
            <a:solidFill>
              <a:srgbClr val="E4E7EF"/>
            </a:solidFill>
            <a:prstDash val="solid"/>
          </a:ln>
        </p:spPr>
        <p:txBody>
          <a:bodyPr/>
          <a:lstStyle/>
          <a:p>
            <a:endParaRPr lang="en-ZA"/>
          </a:p>
        </p:txBody>
      </p:sp>
      <p:sp>
        <p:nvSpPr>
          <p:cNvPr id="7" name="Text 4"/>
          <p:cNvSpPr/>
          <p:nvPr/>
        </p:nvSpPr>
        <p:spPr>
          <a:xfrm>
            <a:off x="8074152" y="1536192"/>
            <a:ext cx="3282696" cy="320040"/>
          </a:xfrm>
          <a:prstGeom prst="rect">
            <a:avLst/>
          </a:prstGeom>
          <a:noFill/>
          <a:ln/>
        </p:spPr>
        <p:txBody>
          <a:bodyPr wrap="square" lIns="0" tIns="0" rIns="0" bIns="0" rtlCol="0" anchor="ctr"/>
          <a:lstStyle/>
          <a:p>
            <a:pPr marL="0" indent="0">
              <a:buNone/>
            </a:pPr>
            <a:r>
              <a:rPr lang="en-US" sz="1200" b="1" kern="0" spc="120" dirty="0">
                <a:solidFill>
                  <a:srgbClr val="C9A227"/>
                </a:solidFill>
                <a:latin typeface="Calibri" pitchFamily="34" charset="0"/>
                <a:ea typeface="Calibri" pitchFamily="34" charset="-122"/>
                <a:cs typeface="Calibri" pitchFamily="34" charset="-120"/>
              </a:rPr>
              <a:t>DIVIDEND POLICY</a:t>
            </a:r>
            <a:endParaRPr lang="en-US" sz="1200" dirty="0"/>
          </a:p>
        </p:txBody>
      </p:sp>
      <p:sp>
        <p:nvSpPr>
          <p:cNvPr id="8" name="Text 5"/>
          <p:cNvSpPr/>
          <p:nvPr/>
        </p:nvSpPr>
        <p:spPr>
          <a:xfrm>
            <a:off x="8074152" y="1874520"/>
            <a:ext cx="3282696" cy="45720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R959.6m → R1,112.8m → R0</a:t>
            </a:r>
            <a:endParaRPr lang="en-US" sz="2000" dirty="0"/>
          </a:p>
        </p:txBody>
      </p:sp>
      <p:sp>
        <p:nvSpPr>
          <p:cNvPr id="9" name="Text 6"/>
          <p:cNvSpPr/>
          <p:nvPr/>
        </p:nvSpPr>
        <p:spPr>
          <a:xfrm>
            <a:off x="8074152" y="2377440"/>
            <a:ext cx="3282696" cy="868680"/>
          </a:xfrm>
          <a:prstGeom prst="rect">
            <a:avLst/>
          </a:prstGeom>
          <a:noFill/>
          <a:ln/>
        </p:spPr>
        <p:txBody>
          <a:bodyPr wrap="square" lIns="0" tIns="0" rIns="0" bIns="0" rtlCol="0" anchor="ctr"/>
          <a:lstStyle/>
          <a:p>
            <a:pPr marL="0" indent="0">
              <a:lnSpc>
                <a:spcPct val="110000"/>
              </a:lnSpc>
              <a:buNone/>
            </a:pPr>
            <a:r>
              <a:rPr lang="en-US" sz="1150" dirty="0">
                <a:solidFill>
                  <a:srgbClr val="35405C"/>
                </a:solidFill>
                <a:latin typeface="Calibri" pitchFamily="34" charset="0"/>
                <a:ea typeface="Calibri" pitchFamily="34" charset="-122"/>
                <a:cs typeface="Calibri" pitchFamily="34" charset="-120"/>
              </a:rPr>
              <a:t>Dividends paid, FY2022 and FY2023, then suspended through FY2026 (0 cents/share) to preserve cash for the turnaround.</a:t>
            </a:r>
            <a:endParaRPr lang="en-US" sz="1150" dirty="0"/>
          </a:p>
        </p:txBody>
      </p:sp>
      <p:sp>
        <p:nvSpPr>
          <p:cNvPr id="10" name="Shape 7"/>
          <p:cNvSpPr/>
          <p:nvPr/>
        </p:nvSpPr>
        <p:spPr>
          <a:xfrm>
            <a:off x="7818120" y="3520440"/>
            <a:ext cx="3794760" cy="2194560"/>
          </a:xfrm>
          <a:prstGeom prst="roundRect">
            <a:avLst>
              <a:gd name="adj" fmla="val 3333"/>
            </a:avLst>
          </a:prstGeom>
          <a:solidFill>
            <a:srgbClr val="1E2761"/>
          </a:solidFill>
          <a:ln/>
        </p:spPr>
        <p:txBody>
          <a:bodyPr/>
          <a:lstStyle/>
          <a:p>
            <a:endParaRPr lang="en-ZA"/>
          </a:p>
        </p:txBody>
      </p:sp>
      <p:sp>
        <p:nvSpPr>
          <p:cNvPr id="11" name="Text 8"/>
          <p:cNvSpPr/>
          <p:nvPr/>
        </p:nvSpPr>
        <p:spPr>
          <a:xfrm>
            <a:off x="8074152" y="3685032"/>
            <a:ext cx="3282696" cy="320040"/>
          </a:xfrm>
          <a:prstGeom prst="rect">
            <a:avLst/>
          </a:prstGeom>
          <a:noFill/>
          <a:ln/>
        </p:spPr>
        <p:txBody>
          <a:bodyPr wrap="square" lIns="0" tIns="0" rIns="0" bIns="0" rtlCol="0" anchor="ctr"/>
          <a:lstStyle/>
          <a:p>
            <a:pPr marL="0" indent="0">
              <a:buNone/>
            </a:pPr>
            <a:r>
              <a:rPr lang="en-US" sz="1200" b="1" kern="0" spc="120" dirty="0">
                <a:solidFill>
                  <a:srgbClr val="C9A227"/>
                </a:solidFill>
                <a:latin typeface="Calibri" pitchFamily="34" charset="0"/>
                <a:ea typeface="Calibri" pitchFamily="34" charset="-122"/>
                <a:cs typeface="Calibri" pitchFamily="34" charset="-120"/>
              </a:rPr>
              <a:t>NET FINANCING CASH FLOW</a:t>
            </a:r>
            <a:endParaRPr lang="en-US" sz="1200" dirty="0"/>
          </a:p>
        </p:txBody>
      </p:sp>
      <p:sp>
        <p:nvSpPr>
          <p:cNvPr id="12" name="Text 9"/>
          <p:cNvSpPr/>
          <p:nvPr/>
        </p:nvSpPr>
        <p:spPr>
          <a:xfrm>
            <a:off x="8074152" y="4069080"/>
            <a:ext cx="3282696" cy="1508760"/>
          </a:xfrm>
          <a:prstGeom prst="rect">
            <a:avLst/>
          </a:prstGeom>
          <a:noFill/>
          <a:ln/>
        </p:spPr>
        <p:txBody>
          <a:bodyPr wrap="square" lIns="0" tIns="0" rIns="0" bIns="0" rtlCol="0" anchor="ctr"/>
          <a:lstStyle/>
          <a:p>
            <a:pPr fontAlgn="t">
              <a:lnSpc>
                <a:spcPts val="1500"/>
              </a:lnSpc>
              <a:buNone/>
            </a:pPr>
            <a:r>
              <a:rPr lang="en-US" sz="1200" dirty="0">
                <a:solidFill>
                  <a:srgbClr val="CADCFC"/>
                </a:solidFill>
                <a:latin typeface="Calibri" pitchFamily="34" charset="0"/>
                <a:ea typeface="Calibri" pitchFamily="34" charset="-122"/>
                <a:cs typeface="Calibri" pitchFamily="34" charset="-120"/>
              </a:rPr>
              <a:t>Net financing cash flows fluctuated throughout the period, moving between outflows of R1,502m in FY22 and R3,495m in FY26, with net inflows of R877m in FY24 and R3,744m in FY25.dividends outweighed new  funding. </a:t>
            </a:r>
          </a:p>
          <a:p>
            <a:pPr marL="0" indent="0">
              <a:lnSpc>
                <a:spcPct val="112000"/>
              </a:lnSpc>
              <a:buNone/>
            </a:pPr>
            <a:endParaRPr lang="en-US" sz="1200" dirty="0"/>
          </a:p>
        </p:txBody>
      </p:sp>
      <p:sp>
        <p:nvSpPr>
          <p:cNvPr id="13" name="Text 10"/>
          <p:cNvSpPr/>
          <p:nvPr/>
        </p:nvSpPr>
        <p:spPr>
          <a:xfrm>
            <a:off x="457200" y="6565392"/>
            <a:ext cx="7315200" cy="228600"/>
          </a:xfrm>
          <a:prstGeom prst="rect">
            <a:avLst/>
          </a:prstGeom>
          <a:noFill/>
          <a:ln/>
        </p:spPr>
        <p:txBody>
          <a:bodyPr wrap="square" lIns="0" tIns="0" rIns="0" bIns="0" rtlCol="0" anchor="ctr"/>
          <a:lstStyle/>
          <a:p>
            <a:pPr marL="0" indent="0">
              <a:buNone/>
            </a:pPr>
            <a:r>
              <a:rPr lang="en-US" sz="900" dirty="0">
                <a:solidFill>
                  <a:srgbClr val="6B7690"/>
                </a:solidFill>
                <a:latin typeface="Calibri" pitchFamily="34" charset="0"/>
                <a:ea typeface="Calibri" pitchFamily="34" charset="-122"/>
                <a:cs typeface="Calibri" pitchFamily="34" charset="-120"/>
              </a:rPr>
              <a:t>Financing Strategy — Financing Activities &amp; Dividends</a:t>
            </a:r>
            <a:endParaRPr lang="en-US" sz="900" dirty="0"/>
          </a:p>
        </p:txBody>
      </p:sp>
      <p:sp>
        <p:nvSpPr>
          <p:cNvPr id="14" name="Text 11"/>
          <p:cNvSpPr/>
          <p:nvPr/>
        </p:nvSpPr>
        <p:spPr>
          <a:xfrm>
            <a:off x="11247120" y="6565392"/>
            <a:ext cx="457200" cy="228600"/>
          </a:xfrm>
          <a:prstGeom prst="rect">
            <a:avLst/>
          </a:prstGeom>
          <a:noFill/>
          <a:ln/>
        </p:spPr>
        <p:txBody>
          <a:bodyPr wrap="square" lIns="0" tIns="0" rIns="0" bIns="0" rtlCol="0" anchor="ctr"/>
          <a:lstStyle/>
          <a:p>
            <a:pPr marL="0" indent="0" algn="r">
              <a:buNone/>
            </a:pPr>
            <a:r>
              <a:rPr lang="en-US" sz="900" dirty="0">
                <a:solidFill>
                  <a:srgbClr val="6B76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Key Financing Decisions, FY2022–FY2026</a:t>
            </a:r>
            <a:endParaRPr lang="en-US" sz="2700" dirty="0"/>
          </a:p>
        </p:txBody>
      </p:sp>
      <p:sp>
        <p:nvSpPr>
          <p:cNvPr id="3" name="Text 1"/>
          <p:cNvSpPr/>
          <p:nvPr/>
        </p:nvSpPr>
        <p:spPr>
          <a:xfrm>
            <a:off x="548640" y="896112"/>
            <a:ext cx="10058400" cy="320040"/>
          </a:xfrm>
          <a:prstGeom prst="rect">
            <a:avLst/>
          </a:prstGeom>
          <a:noFill/>
          <a:ln/>
        </p:spPr>
        <p:txBody>
          <a:bodyPr wrap="square" lIns="0" tIns="0" rIns="0" bIns="0" rtlCol="0" anchor="ctr"/>
          <a:lstStyle/>
          <a:p>
            <a:pPr marL="0" indent="0">
              <a:buNone/>
            </a:pPr>
            <a:r>
              <a:rPr lang="en-US" sz="1300" i="1" dirty="0">
                <a:solidFill>
                  <a:srgbClr val="6B7690"/>
                </a:solidFill>
                <a:latin typeface="Calibri" pitchFamily="34" charset="0"/>
                <a:ea typeface="Calibri" pitchFamily="34" charset="-122"/>
                <a:cs typeface="Calibri" pitchFamily="34" charset="-120"/>
              </a:rPr>
              <a:t>What management did, and why</a:t>
            </a:r>
            <a:endParaRPr lang="en-US" sz="1300" dirty="0"/>
          </a:p>
        </p:txBody>
      </p:sp>
      <p:sp>
        <p:nvSpPr>
          <p:cNvPr id="4" name="Shape 2"/>
          <p:cNvSpPr/>
          <p:nvPr/>
        </p:nvSpPr>
        <p:spPr>
          <a:xfrm>
            <a:off x="548640" y="1417320"/>
            <a:ext cx="2606040" cy="4709160"/>
          </a:xfrm>
          <a:prstGeom prst="roundRect">
            <a:avLst>
              <a:gd name="adj" fmla="val 2807"/>
            </a:avLst>
          </a:prstGeom>
          <a:solidFill>
            <a:srgbClr val="FFFFFF"/>
          </a:solidFill>
          <a:ln w="12700">
            <a:solidFill>
              <a:srgbClr val="E4E7EF"/>
            </a:solidFill>
            <a:prstDash val="solid"/>
          </a:ln>
        </p:spPr>
        <p:txBody>
          <a:bodyPr/>
          <a:lstStyle/>
          <a:p>
            <a:endParaRPr lang="en-ZA"/>
          </a:p>
        </p:txBody>
      </p:sp>
      <p:sp>
        <p:nvSpPr>
          <p:cNvPr id="5" name="Shape 3"/>
          <p:cNvSpPr/>
          <p:nvPr/>
        </p:nvSpPr>
        <p:spPr>
          <a:xfrm>
            <a:off x="713232" y="1600200"/>
            <a:ext cx="2276856" cy="384048"/>
          </a:xfrm>
          <a:prstGeom prst="roundRect">
            <a:avLst>
              <a:gd name="adj" fmla="val 50000"/>
            </a:avLst>
          </a:prstGeom>
          <a:solidFill>
            <a:srgbClr val="1E2761"/>
          </a:solidFill>
          <a:ln/>
        </p:spPr>
        <p:txBody>
          <a:bodyPr/>
          <a:lstStyle/>
          <a:p>
            <a:endParaRPr lang="en-ZA"/>
          </a:p>
        </p:txBody>
      </p:sp>
      <p:sp>
        <p:nvSpPr>
          <p:cNvPr id="6" name="Text 4"/>
          <p:cNvSpPr/>
          <p:nvPr/>
        </p:nvSpPr>
        <p:spPr>
          <a:xfrm>
            <a:off x="713232" y="1600200"/>
            <a:ext cx="2276856"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FY22–23</a:t>
            </a:r>
            <a:endParaRPr lang="en-US" sz="1300" dirty="0"/>
          </a:p>
        </p:txBody>
      </p:sp>
      <p:sp>
        <p:nvSpPr>
          <p:cNvPr id="7" name="Text 5"/>
          <p:cNvSpPr/>
          <p:nvPr/>
        </p:nvSpPr>
        <p:spPr>
          <a:xfrm>
            <a:off x="731520" y="2103120"/>
            <a:ext cx="2240280" cy="50292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Debt-funded operations</a:t>
            </a:r>
            <a:endParaRPr lang="en-US" sz="1500" dirty="0"/>
          </a:p>
        </p:txBody>
      </p:sp>
      <p:sp>
        <p:nvSpPr>
          <p:cNvPr id="8" name="Text 6"/>
          <p:cNvSpPr/>
          <p:nvPr/>
        </p:nvSpPr>
        <p:spPr>
          <a:xfrm>
            <a:off x="731520" y="2651760"/>
            <a:ext cx="2240280" cy="1920240"/>
          </a:xfrm>
          <a:prstGeom prst="rect">
            <a:avLst/>
          </a:prstGeom>
          <a:noFill/>
          <a:ln/>
        </p:spPr>
        <p:txBody>
          <a:bodyPr wrap="square" lIns="0" tIns="0" rIns="0" bIns="0" rtlCol="0" anchor="t"/>
          <a:lstStyle/>
          <a:p>
            <a:pPr marL="0" indent="0">
              <a:lnSpc>
                <a:spcPct val="112000"/>
              </a:lnSpc>
              <a:buNone/>
            </a:pPr>
            <a:r>
              <a:rPr lang="en-US" sz="1100" dirty="0">
                <a:solidFill>
                  <a:srgbClr val="35405C"/>
                </a:solidFill>
                <a:latin typeface="Calibri" pitchFamily="34" charset="0"/>
                <a:ea typeface="Calibri" pitchFamily="34" charset="-122"/>
                <a:cs typeface="Calibri" pitchFamily="34" charset="-120"/>
              </a:rPr>
              <a:t>High reliance on borrowings and overdrafts; lease liabilities significant under IFRS 16; no equity issuance.</a:t>
            </a:r>
            <a:endParaRPr lang="en-US" sz="1100" dirty="0"/>
          </a:p>
        </p:txBody>
      </p:sp>
      <p:sp>
        <p:nvSpPr>
          <p:cNvPr id="9" name="Text 7"/>
          <p:cNvSpPr/>
          <p:nvPr/>
        </p:nvSpPr>
        <p:spPr>
          <a:xfrm>
            <a:off x="731520" y="4663440"/>
            <a:ext cx="2240280" cy="1325880"/>
          </a:xfrm>
          <a:prstGeom prst="rect">
            <a:avLst/>
          </a:prstGeom>
          <a:noFill/>
          <a:ln/>
        </p:spPr>
        <p:txBody>
          <a:bodyPr wrap="square" lIns="0" tIns="0" rIns="0" bIns="0" rtlCol="0" anchor="t"/>
          <a:lstStyle/>
          <a:p>
            <a:pPr marL="0" indent="0">
              <a:lnSpc>
                <a:spcPct val="110000"/>
              </a:lnSpc>
              <a:buNone/>
            </a:pPr>
            <a:r>
              <a:rPr lang="en-US" sz="1050" b="1" dirty="0">
                <a:solidFill>
                  <a:srgbClr val="C9A227"/>
                </a:solidFill>
                <a:latin typeface="Calibri" pitchFamily="34" charset="0"/>
                <a:ea typeface="Calibri" pitchFamily="34" charset="-122"/>
                <a:cs typeface="Calibri" pitchFamily="34" charset="-120"/>
              </a:rPr>
              <a:t>WHY: </a:t>
            </a:r>
            <a:r>
              <a:rPr lang="en-US" sz="1050" i="1" dirty="0">
                <a:solidFill>
                  <a:srgbClr val="35405C"/>
                </a:solidFill>
                <a:latin typeface="Calibri" pitchFamily="34" charset="0"/>
                <a:ea typeface="Calibri" pitchFamily="34" charset="-122"/>
                <a:cs typeface="Calibri" pitchFamily="34" charset="-120"/>
              </a:rPr>
              <a:t>Inflation and lingering COVID pressure squeezed cash generation.</a:t>
            </a:r>
            <a:endParaRPr lang="en-US" sz="1050" dirty="0"/>
          </a:p>
        </p:txBody>
      </p:sp>
      <p:sp>
        <p:nvSpPr>
          <p:cNvPr id="10" name="Shape 8"/>
          <p:cNvSpPr/>
          <p:nvPr/>
        </p:nvSpPr>
        <p:spPr>
          <a:xfrm>
            <a:off x="3291840" y="1417320"/>
            <a:ext cx="2606040" cy="4709160"/>
          </a:xfrm>
          <a:prstGeom prst="roundRect">
            <a:avLst>
              <a:gd name="adj" fmla="val 2807"/>
            </a:avLst>
          </a:prstGeom>
          <a:solidFill>
            <a:srgbClr val="FFFFFF"/>
          </a:solidFill>
          <a:ln w="12700">
            <a:solidFill>
              <a:srgbClr val="E4E7EF"/>
            </a:solidFill>
            <a:prstDash val="solid"/>
          </a:ln>
        </p:spPr>
        <p:txBody>
          <a:bodyPr/>
          <a:lstStyle/>
          <a:p>
            <a:endParaRPr lang="en-ZA"/>
          </a:p>
        </p:txBody>
      </p:sp>
      <p:sp>
        <p:nvSpPr>
          <p:cNvPr id="11" name="Shape 9"/>
          <p:cNvSpPr/>
          <p:nvPr/>
        </p:nvSpPr>
        <p:spPr>
          <a:xfrm>
            <a:off x="3456432" y="1600200"/>
            <a:ext cx="2276856" cy="384048"/>
          </a:xfrm>
          <a:prstGeom prst="roundRect">
            <a:avLst>
              <a:gd name="adj" fmla="val 50000"/>
            </a:avLst>
          </a:prstGeom>
          <a:solidFill>
            <a:srgbClr val="1E2761"/>
          </a:solidFill>
          <a:ln/>
        </p:spPr>
        <p:txBody>
          <a:bodyPr/>
          <a:lstStyle/>
          <a:p>
            <a:endParaRPr lang="en-ZA"/>
          </a:p>
        </p:txBody>
      </p:sp>
      <p:sp>
        <p:nvSpPr>
          <p:cNvPr id="12" name="Text 10"/>
          <p:cNvSpPr/>
          <p:nvPr/>
        </p:nvSpPr>
        <p:spPr>
          <a:xfrm>
            <a:off x="3456432" y="1600200"/>
            <a:ext cx="2276856"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FY24</a:t>
            </a:r>
            <a:endParaRPr lang="en-US" sz="1300" dirty="0"/>
          </a:p>
        </p:txBody>
      </p:sp>
      <p:sp>
        <p:nvSpPr>
          <p:cNvPr id="13" name="Text 11"/>
          <p:cNvSpPr/>
          <p:nvPr/>
        </p:nvSpPr>
        <p:spPr>
          <a:xfrm>
            <a:off x="3474720" y="2103120"/>
            <a:ext cx="2240280" cy="50292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Crisis point</a:t>
            </a:r>
            <a:endParaRPr lang="en-US" sz="1500" dirty="0"/>
          </a:p>
        </p:txBody>
      </p:sp>
      <p:sp>
        <p:nvSpPr>
          <p:cNvPr id="14" name="Text 12"/>
          <p:cNvSpPr/>
          <p:nvPr/>
        </p:nvSpPr>
        <p:spPr>
          <a:xfrm>
            <a:off x="3474720" y="2651760"/>
            <a:ext cx="2240280" cy="1920240"/>
          </a:xfrm>
          <a:prstGeom prst="rect">
            <a:avLst/>
          </a:prstGeom>
          <a:noFill/>
          <a:ln/>
        </p:spPr>
        <p:txBody>
          <a:bodyPr wrap="square" lIns="0" tIns="0" rIns="0" bIns="0" rtlCol="0" anchor="t"/>
          <a:lstStyle/>
          <a:p>
            <a:pPr marL="0" indent="0">
              <a:lnSpc>
                <a:spcPct val="112000"/>
              </a:lnSpc>
              <a:buNone/>
            </a:pPr>
            <a:r>
              <a:rPr lang="en-US" sz="1100" dirty="0">
                <a:solidFill>
                  <a:srgbClr val="35405C"/>
                </a:solidFill>
                <a:latin typeface="Calibri" pitchFamily="34" charset="0"/>
                <a:ea typeface="Calibri" pitchFamily="34" charset="-122"/>
                <a:cs typeface="Calibri" pitchFamily="34" charset="-120"/>
              </a:rPr>
              <a:t>Dividends suspended after losses; equity turns negative (R(293)m); debt peaks at R11.4bn; restructuring discussions begin.</a:t>
            </a:r>
            <a:endParaRPr lang="en-US" sz="1100" dirty="0"/>
          </a:p>
        </p:txBody>
      </p:sp>
      <p:sp>
        <p:nvSpPr>
          <p:cNvPr id="15" name="Text 13"/>
          <p:cNvSpPr/>
          <p:nvPr/>
        </p:nvSpPr>
        <p:spPr>
          <a:xfrm>
            <a:off x="3474720" y="4663440"/>
            <a:ext cx="2240280" cy="1325880"/>
          </a:xfrm>
          <a:prstGeom prst="rect">
            <a:avLst/>
          </a:prstGeom>
          <a:noFill/>
          <a:ln/>
        </p:spPr>
        <p:txBody>
          <a:bodyPr wrap="square" lIns="0" tIns="0" rIns="0" bIns="0" rtlCol="0" anchor="t"/>
          <a:lstStyle/>
          <a:p>
            <a:pPr marL="0" indent="0">
              <a:lnSpc>
                <a:spcPct val="110000"/>
              </a:lnSpc>
              <a:buNone/>
            </a:pPr>
            <a:r>
              <a:rPr lang="en-US" sz="1050" b="1" dirty="0">
                <a:solidFill>
                  <a:srgbClr val="C9A227"/>
                </a:solidFill>
                <a:latin typeface="Calibri" pitchFamily="34" charset="0"/>
                <a:ea typeface="Calibri" pitchFamily="34" charset="-122"/>
                <a:cs typeface="Calibri" pitchFamily="34" charset="-120"/>
              </a:rPr>
              <a:t>WHY: </a:t>
            </a:r>
            <a:r>
              <a:rPr lang="en-US" sz="1050" i="1" dirty="0">
                <a:solidFill>
                  <a:srgbClr val="35405C"/>
                </a:solidFill>
                <a:latin typeface="Calibri" pitchFamily="34" charset="0"/>
                <a:ea typeface="Calibri" pitchFamily="34" charset="-122"/>
                <a:cs typeface="Calibri" pitchFamily="34" charset="-120"/>
              </a:rPr>
              <a:t>Weak profitability and liquidity pressure forced defensive action.</a:t>
            </a:r>
            <a:endParaRPr lang="en-US" sz="1050" dirty="0"/>
          </a:p>
        </p:txBody>
      </p:sp>
      <p:sp>
        <p:nvSpPr>
          <p:cNvPr id="16" name="Shape 14"/>
          <p:cNvSpPr/>
          <p:nvPr/>
        </p:nvSpPr>
        <p:spPr>
          <a:xfrm>
            <a:off x="6035040" y="1417320"/>
            <a:ext cx="2606040" cy="4709160"/>
          </a:xfrm>
          <a:prstGeom prst="roundRect">
            <a:avLst>
              <a:gd name="adj" fmla="val 2807"/>
            </a:avLst>
          </a:prstGeom>
          <a:solidFill>
            <a:srgbClr val="FFFFFF"/>
          </a:solidFill>
          <a:ln w="12700">
            <a:solidFill>
              <a:srgbClr val="E4E7EF"/>
            </a:solidFill>
            <a:prstDash val="solid"/>
          </a:ln>
        </p:spPr>
        <p:txBody>
          <a:bodyPr/>
          <a:lstStyle/>
          <a:p>
            <a:endParaRPr lang="en-ZA"/>
          </a:p>
        </p:txBody>
      </p:sp>
      <p:sp>
        <p:nvSpPr>
          <p:cNvPr id="17" name="Shape 15"/>
          <p:cNvSpPr/>
          <p:nvPr/>
        </p:nvSpPr>
        <p:spPr>
          <a:xfrm>
            <a:off x="6199632" y="1600200"/>
            <a:ext cx="2276856" cy="384048"/>
          </a:xfrm>
          <a:prstGeom prst="roundRect">
            <a:avLst>
              <a:gd name="adj" fmla="val 50000"/>
            </a:avLst>
          </a:prstGeom>
          <a:solidFill>
            <a:srgbClr val="1E2761"/>
          </a:solidFill>
          <a:ln/>
        </p:spPr>
        <p:txBody>
          <a:bodyPr/>
          <a:lstStyle/>
          <a:p>
            <a:endParaRPr lang="en-ZA"/>
          </a:p>
        </p:txBody>
      </p:sp>
      <p:sp>
        <p:nvSpPr>
          <p:cNvPr id="18" name="Text 16"/>
          <p:cNvSpPr/>
          <p:nvPr/>
        </p:nvSpPr>
        <p:spPr>
          <a:xfrm>
            <a:off x="6199632" y="1600200"/>
            <a:ext cx="2276856"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FY25</a:t>
            </a:r>
            <a:endParaRPr lang="en-US" sz="1300" dirty="0"/>
          </a:p>
        </p:txBody>
      </p:sp>
      <p:sp>
        <p:nvSpPr>
          <p:cNvPr id="19" name="Text 17"/>
          <p:cNvSpPr/>
          <p:nvPr/>
        </p:nvSpPr>
        <p:spPr>
          <a:xfrm>
            <a:off x="6217920" y="2103120"/>
            <a:ext cx="2240280" cy="50292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Recapitalisation</a:t>
            </a:r>
            <a:endParaRPr lang="en-US" sz="1500" dirty="0"/>
          </a:p>
        </p:txBody>
      </p:sp>
      <p:sp>
        <p:nvSpPr>
          <p:cNvPr id="20" name="Text 18"/>
          <p:cNvSpPr/>
          <p:nvPr/>
        </p:nvSpPr>
        <p:spPr>
          <a:xfrm>
            <a:off x="6217920" y="2651760"/>
            <a:ext cx="2240280" cy="1920240"/>
          </a:xfrm>
          <a:prstGeom prst="rect">
            <a:avLst/>
          </a:prstGeom>
          <a:noFill/>
          <a:ln/>
        </p:spPr>
        <p:txBody>
          <a:bodyPr wrap="square" lIns="0" tIns="0" rIns="0" bIns="0" rtlCol="0" anchor="t"/>
          <a:lstStyle/>
          <a:p>
            <a:pPr marL="0" indent="0">
              <a:lnSpc>
                <a:spcPct val="112000"/>
              </a:lnSpc>
              <a:buNone/>
            </a:pPr>
            <a:r>
              <a:rPr lang="en-US" sz="1100" dirty="0">
                <a:solidFill>
                  <a:srgbClr val="35405C"/>
                </a:solidFill>
                <a:latin typeface="Calibri" pitchFamily="34" charset="0"/>
                <a:ea typeface="Calibri" pitchFamily="34" charset="-122"/>
                <a:cs typeface="Calibri" pitchFamily="34" charset="-120"/>
              </a:rPr>
              <a:t>R4.0bn rights issue; debt cut from R11.4bn to R1.15bn; swings from R6.1bn net debt to R4.2bn net cash.</a:t>
            </a:r>
            <a:endParaRPr lang="en-US" sz="1100" dirty="0"/>
          </a:p>
        </p:txBody>
      </p:sp>
      <p:sp>
        <p:nvSpPr>
          <p:cNvPr id="21" name="Text 19"/>
          <p:cNvSpPr/>
          <p:nvPr/>
        </p:nvSpPr>
        <p:spPr>
          <a:xfrm>
            <a:off x="6217920" y="4663440"/>
            <a:ext cx="2240280" cy="1325880"/>
          </a:xfrm>
          <a:prstGeom prst="rect">
            <a:avLst/>
          </a:prstGeom>
          <a:noFill/>
          <a:ln/>
        </p:spPr>
        <p:txBody>
          <a:bodyPr wrap="square" lIns="0" tIns="0" rIns="0" bIns="0" rtlCol="0" anchor="t"/>
          <a:lstStyle/>
          <a:p>
            <a:pPr marL="0" indent="0">
              <a:lnSpc>
                <a:spcPct val="110000"/>
              </a:lnSpc>
              <a:buNone/>
            </a:pPr>
            <a:r>
              <a:rPr lang="en-US" sz="1050" b="1" dirty="0">
                <a:solidFill>
                  <a:srgbClr val="C9A227"/>
                </a:solidFill>
                <a:latin typeface="Calibri" pitchFamily="34" charset="0"/>
                <a:ea typeface="Calibri" pitchFamily="34" charset="-122"/>
                <a:cs typeface="Calibri" pitchFamily="34" charset="-120"/>
              </a:rPr>
              <a:t>WHY: </a:t>
            </a:r>
            <a:r>
              <a:rPr lang="en-US" sz="1050" i="1" dirty="0">
                <a:solidFill>
                  <a:srgbClr val="35405C"/>
                </a:solidFill>
                <a:latin typeface="Calibri" pitchFamily="34" charset="0"/>
                <a:ea typeface="Calibri" pitchFamily="34" charset="-122"/>
                <a:cs typeface="Calibri" pitchFamily="34" charset="-120"/>
              </a:rPr>
              <a:t>Deliberate equity-led plan to restore solvency and reduce leverage.</a:t>
            </a:r>
            <a:endParaRPr lang="en-US" sz="1050" dirty="0"/>
          </a:p>
        </p:txBody>
      </p:sp>
      <p:sp>
        <p:nvSpPr>
          <p:cNvPr id="22" name="Shape 20"/>
          <p:cNvSpPr/>
          <p:nvPr/>
        </p:nvSpPr>
        <p:spPr>
          <a:xfrm>
            <a:off x="8778240" y="1417320"/>
            <a:ext cx="2606040" cy="4709160"/>
          </a:xfrm>
          <a:prstGeom prst="roundRect">
            <a:avLst>
              <a:gd name="adj" fmla="val 2807"/>
            </a:avLst>
          </a:prstGeom>
          <a:solidFill>
            <a:srgbClr val="1E2761"/>
          </a:solidFill>
          <a:ln w="12700">
            <a:solidFill>
              <a:srgbClr val="E4E7EF"/>
            </a:solidFill>
            <a:prstDash val="solid"/>
          </a:ln>
        </p:spPr>
        <p:txBody>
          <a:bodyPr/>
          <a:lstStyle/>
          <a:p>
            <a:endParaRPr lang="en-ZA"/>
          </a:p>
        </p:txBody>
      </p:sp>
      <p:sp>
        <p:nvSpPr>
          <p:cNvPr id="23" name="Shape 21"/>
          <p:cNvSpPr/>
          <p:nvPr/>
        </p:nvSpPr>
        <p:spPr>
          <a:xfrm>
            <a:off x="8942832" y="1600200"/>
            <a:ext cx="2276856" cy="384048"/>
          </a:xfrm>
          <a:prstGeom prst="roundRect">
            <a:avLst>
              <a:gd name="adj" fmla="val 50000"/>
            </a:avLst>
          </a:prstGeom>
          <a:solidFill>
            <a:srgbClr val="C9A227"/>
          </a:solidFill>
          <a:ln/>
        </p:spPr>
        <p:txBody>
          <a:bodyPr/>
          <a:lstStyle/>
          <a:p>
            <a:endParaRPr lang="en-ZA"/>
          </a:p>
        </p:txBody>
      </p:sp>
      <p:sp>
        <p:nvSpPr>
          <p:cNvPr id="24" name="Text 22"/>
          <p:cNvSpPr/>
          <p:nvPr/>
        </p:nvSpPr>
        <p:spPr>
          <a:xfrm>
            <a:off x="8942832" y="1600200"/>
            <a:ext cx="2276856"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FY26</a:t>
            </a:r>
            <a:endParaRPr lang="en-US" sz="1300" dirty="0"/>
          </a:p>
        </p:txBody>
      </p:sp>
      <p:sp>
        <p:nvSpPr>
          <p:cNvPr id="25" name="Text 23"/>
          <p:cNvSpPr/>
          <p:nvPr/>
        </p:nvSpPr>
        <p:spPr>
          <a:xfrm>
            <a:off x="8961120" y="2103120"/>
            <a:ext cx="2240280" cy="502920"/>
          </a:xfrm>
          <a:prstGeom prst="rect">
            <a:avLst/>
          </a:prstGeom>
          <a:noFill/>
          <a:ln/>
        </p:spPr>
        <p:txBody>
          <a:bodyPr wrap="square" lIns="0" tIns="0" rIns="0" bIns="0" rtlCol="0" anchor="ctr"/>
          <a:lstStyle/>
          <a:p>
            <a:pPr marL="0" indent="0">
              <a:buNone/>
            </a:pPr>
            <a:r>
              <a:rPr lang="en-US" sz="1500" b="1" dirty="0">
                <a:solidFill>
                  <a:srgbClr val="C9A227"/>
                </a:solidFill>
                <a:latin typeface="Cambria" pitchFamily="34" charset="0"/>
                <a:ea typeface="Cambria" pitchFamily="34" charset="-122"/>
                <a:cs typeface="Cambria" pitchFamily="34" charset="-120"/>
              </a:rPr>
              <a:t>Turnaround discipline</a:t>
            </a:r>
            <a:endParaRPr lang="en-US" sz="1500" dirty="0"/>
          </a:p>
        </p:txBody>
      </p:sp>
      <p:sp>
        <p:nvSpPr>
          <p:cNvPr id="26" name="Text 24"/>
          <p:cNvSpPr/>
          <p:nvPr/>
        </p:nvSpPr>
        <p:spPr>
          <a:xfrm>
            <a:off x="8961120" y="2651760"/>
            <a:ext cx="2240280" cy="1920240"/>
          </a:xfrm>
          <a:prstGeom prst="rect">
            <a:avLst/>
          </a:prstGeom>
          <a:noFill/>
          <a:ln/>
        </p:spPr>
        <p:txBody>
          <a:bodyPr wrap="square" lIns="0" tIns="0" rIns="0" bIns="0" rtlCol="0" anchor="t"/>
          <a:lstStyle/>
          <a:p>
            <a:pPr marL="0" indent="0">
              <a:lnSpc>
                <a:spcPct val="112000"/>
              </a:lnSpc>
              <a:buNone/>
            </a:pPr>
            <a:r>
              <a:rPr lang="en-US" sz="1100" dirty="0">
                <a:solidFill>
                  <a:srgbClr val="CADCFC"/>
                </a:solidFill>
                <a:latin typeface="Calibri" pitchFamily="34" charset="0"/>
                <a:ea typeface="Calibri" pitchFamily="34" charset="-122"/>
                <a:cs typeface="Calibri" pitchFamily="34" charset="-120"/>
              </a:rPr>
              <a:t>Debt reduced further to R200m; strong net cash (~R3.1bn); dividends still suspended.</a:t>
            </a:r>
            <a:endParaRPr lang="en-US" sz="1100" dirty="0"/>
          </a:p>
        </p:txBody>
      </p:sp>
      <p:sp>
        <p:nvSpPr>
          <p:cNvPr id="27" name="Text 25"/>
          <p:cNvSpPr/>
          <p:nvPr/>
        </p:nvSpPr>
        <p:spPr>
          <a:xfrm>
            <a:off x="8961120" y="4663440"/>
            <a:ext cx="2240280" cy="1325880"/>
          </a:xfrm>
          <a:prstGeom prst="rect">
            <a:avLst/>
          </a:prstGeom>
          <a:noFill/>
          <a:ln/>
        </p:spPr>
        <p:txBody>
          <a:bodyPr wrap="square" lIns="0" tIns="0" rIns="0" bIns="0" rtlCol="0" anchor="t"/>
          <a:lstStyle/>
          <a:p>
            <a:pPr marL="0" indent="0">
              <a:lnSpc>
                <a:spcPct val="110000"/>
              </a:lnSpc>
              <a:buNone/>
            </a:pPr>
            <a:r>
              <a:rPr lang="en-US" sz="1050" b="1" dirty="0">
                <a:solidFill>
                  <a:srgbClr val="C9A227"/>
                </a:solidFill>
                <a:latin typeface="Calibri" pitchFamily="34" charset="0"/>
                <a:ea typeface="Calibri" pitchFamily="34" charset="-122"/>
                <a:cs typeface="Calibri" pitchFamily="34" charset="-120"/>
              </a:rPr>
              <a:t>WHY: </a:t>
            </a:r>
            <a:r>
              <a:rPr lang="en-US" sz="1050" i="1" dirty="0">
                <a:solidFill>
                  <a:srgbClr val="FFFFFF"/>
                </a:solidFill>
                <a:latin typeface="Calibri" pitchFamily="34" charset="0"/>
                <a:ea typeface="Calibri" pitchFamily="34" charset="-122"/>
                <a:cs typeface="Calibri" pitchFamily="34" charset="-120"/>
              </a:rPr>
              <a:t>Boxer-led growth funded conservatively to protect covenants.</a:t>
            </a:r>
            <a:endParaRPr lang="en-US" sz="1050" dirty="0"/>
          </a:p>
        </p:txBody>
      </p:sp>
      <p:sp>
        <p:nvSpPr>
          <p:cNvPr id="28" name="Text 26"/>
          <p:cNvSpPr/>
          <p:nvPr/>
        </p:nvSpPr>
        <p:spPr>
          <a:xfrm>
            <a:off x="457200" y="6565392"/>
            <a:ext cx="7315200" cy="228600"/>
          </a:xfrm>
          <a:prstGeom prst="rect">
            <a:avLst/>
          </a:prstGeom>
          <a:noFill/>
          <a:ln/>
        </p:spPr>
        <p:txBody>
          <a:bodyPr wrap="square" lIns="0" tIns="0" rIns="0" bIns="0" rtlCol="0" anchor="ctr"/>
          <a:lstStyle/>
          <a:p>
            <a:pPr marL="0" indent="0">
              <a:buNone/>
            </a:pPr>
            <a:r>
              <a:rPr lang="en-US" sz="900" dirty="0">
                <a:solidFill>
                  <a:srgbClr val="6B7690"/>
                </a:solidFill>
                <a:latin typeface="Calibri" pitchFamily="34" charset="0"/>
                <a:ea typeface="Calibri" pitchFamily="34" charset="-122"/>
                <a:cs typeface="Calibri" pitchFamily="34" charset="-120"/>
              </a:rPr>
              <a:t>Financing Strategy — Key Financing Decisions</a:t>
            </a:r>
            <a:endParaRPr lang="en-US" sz="900" dirty="0"/>
          </a:p>
        </p:txBody>
      </p:sp>
      <p:sp>
        <p:nvSpPr>
          <p:cNvPr id="29" name="Text 27"/>
          <p:cNvSpPr/>
          <p:nvPr/>
        </p:nvSpPr>
        <p:spPr>
          <a:xfrm>
            <a:off x="11247120" y="6565392"/>
            <a:ext cx="457200" cy="228600"/>
          </a:xfrm>
          <a:prstGeom prst="rect">
            <a:avLst/>
          </a:prstGeom>
          <a:noFill/>
          <a:ln/>
        </p:spPr>
        <p:txBody>
          <a:bodyPr wrap="square" lIns="0" tIns="0" rIns="0" bIns="0" rtlCol="0" anchor="ctr"/>
          <a:lstStyle/>
          <a:p>
            <a:pPr marL="0" indent="0" algn="r">
              <a:buNone/>
            </a:pPr>
            <a:r>
              <a:rPr lang="en-US" sz="900" dirty="0">
                <a:solidFill>
                  <a:srgbClr val="6B7690"/>
                </a:solidFill>
                <a:latin typeface="Calibri" pitchFamily="34" charset="0"/>
                <a:ea typeface="Calibri" pitchFamily="34" charset="-122"/>
                <a:cs typeface="Calibri" pitchFamily="34" charset="-120"/>
              </a:rPr>
              <a:t>5</a:t>
            </a:r>
            <a:endParaRPr lang="en-US" sz="900" dirty="0"/>
          </a:p>
        </p:txBody>
      </p:sp>
      <p:pic>
        <p:nvPicPr>
          <p:cNvPr id="31" name="Picture 30">
            <a:extLst>
              <a:ext uri="{FF2B5EF4-FFF2-40B4-BE49-F238E27FC236}">
                <a16:creationId xmlns:a16="http://schemas.microsoft.com/office/drawing/2014/main" id="{FE9D67B8-6423-2D1C-1FBD-0530D4289E5A}"/>
              </a:ext>
            </a:extLst>
          </p:cNvPr>
          <p:cNvPicPr>
            <a:picLocks noChangeAspect="1"/>
          </p:cNvPicPr>
          <p:nvPr/>
        </p:nvPicPr>
        <p:blipFill>
          <a:blip r:embed="rId3"/>
          <a:stretch>
            <a:fillRect/>
          </a:stretch>
        </p:blipFill>
        <p:spPr>
          <a:xfrm>
            <a:off x="544875" y="3362498"/>
            <a:ext cx="2564085" cy="1174566"/>
          </a:xfrm>
          <a:prstGeom prst="rect">
            <a:avLst/>
          </a:prstGeom>
        </p:spPr>
      </p:pic>
      <p:pic>
        <p:nvPicPr>
          <p:cNvPr id="33" name="Picture 32">
            <a:extLst>
              <a:ext uri="{FF2B5EF4-FFF2-40B4-BE49-F238E27FC236}">
                <a16:creationId xmlns:a16="http://schemas.microsoft.com/office/drawing/2014/main" id="{FBD7E5EB-E93E-2988-3B39-C4BBD279F6A7}"/>
              </a:ext>
            </a:extLst>
          </p:cNvPr>
          <p:cNvPicPr>
            <a:picLocks noChangeAspect="1"/>
          </p:cNvPicPr>
          <p:nvPr/>
        </p:nvPicPr>
        <p:blipFill>
          <a:blip r:embed="rId4"/>
          <a:stretch>
            <a:fillRect/>
          </a:stretch>
        </p:blipFill>
        <p:spPr>
          <a:xfrm>
            <a:off x="4114800" y="3429000"/>
            <a:ext cx="1155136" cy="1233622"/>
          </a:xfrm>
          <a:prstGeom prst="rect">
            <a:avLst/>
          </a:prstGeom>
        </p:spPr>
      </p:pic>
      <p:pic>
        <p:nvPicPr>
          <p:cNvPr id="35" name="Picture 34">
            <a:extLst>
              <a:ext uri="{FF2B5EF4-FFF2-40B4-BE49-F238E27FC236}">
                <a16:creationId xmlns:a16="http://schemas.microsoft.com/office/drawing/2014/main" id="{6D16B230-F716-0BC8-058F-0BB519626BB5}"/>
              </a:ext>
            </a:extLst>
          </p:cNvPr>
          <p:cNvPicPr>
            <a:picLocks noChangeAspect="1"/>
          </p:cNvPicPr>
          <p:nvPr/>
        </p:nvPicPr>
        <p:blipFill>
          <a:blip r:embed="rId5"/>
          <a:stretch>
            <a:fillRect/>
          </a:stretch>
        </p:blipFill>
        <p:spPr>
          <a:xfrm>
            <a:off x="6646566" y="3282120"/>
            <a:ext cx="1382988" cy="1380502"/>
          </a:xfrm>
          <a:prstGeom prst="rect">
            <a:avLst/>
          </a:prstGeom>
        </p:spPr>
      </p:pic>
      <p:pic>
        <p:nvPicPr>
          <p:cNvPr id="37" name="Picture 36">
            <a:extLst>
              <a:ext uri="{FF2B5EF4-FFF2-40B4-BE49-F238E27FC236}">
                <a16:creationId xmlns:a16="http://schemas.microsoft.com/office/drawing/2014/main" id="{C575238E-85E8-294B-8FAF-5D2BD0D6A065}"/>
              </a:ext>
            </a:extLst>
          </p:cNvPr>
          <p:cNvPicPr>
            <a:picLocks noChangeAspect="1"/>
          </p:cNvPicPr>
          <p:nvPr/>
        </p:nvPicPr>
        <p:blipFill>
          <a:blip r:embed="rId6"/>
          <a:stretch>
            <a:fillRect/>
          </a:stretch>
        </p:blipFill>
        <p:spPr>
          <a:xfrm>
            <a:off x="9529783" y="3296178"/>
            <a:ext cx="1380285" cy="13444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1E2761">
              <a:alpha val="55000"/>
            </a:srgbClr>
          </a:solidFill>
          <a:ln/>
        </p:spPr>
        <p:txBody>
          <a:bodyPr/>
          <a:lstStyle/>
          <a:p>
            <a:endParaRPr lang="en-ZA"/>
          </a:p>
        </p:txBody>
      </p:sp>
      <p:sp>
        <p:nvSpPr>
          <p:cNvPr id="3" name="Text 1"/>
          <p:cNvSpPr/>
          <p:nvPr/>
        </p:nvSpPr>
        <p:spPr>
          <a:xfrm>
            <a:off x="640080" y="502920"/>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Pick n Pay's Financing Strategy</a:t>
            </a:r>
            <a:endParaRPr lang="en-US" sz="3000" dirty="0"/>
          </a:p>
        </p:txBody>
      </p:sp>
      <p:sp>
        <p:nvSpPr>
          <p:cNvPr id="4" name="Text 2"/>
          <p:cNvSpPr/>
          <p:nvPr/>
        </p:nvSpPr>
        <p:spPr>
          <a:xfrm>
            <a:off x="640080" y="1143000"/>
            <a:ext cx="10058400" cy="45720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A five-year shift from debt-strained operations to a deliberately equity-led, deleveraged balance sheet</a:t>
            </a:r>
            <a:endParaRPr lang="en-US" sz="1400" dirty="0"/>
          </a:p>
        </p:txBody>
      </p:sp>
      <p:sp>
        <p:nvSpPr>
          <p:cNvPr id="5" name="Shape 3"/>
          <p:cNvSpPr/>
          <p:nvPr/>
        </p:nvSpPr>
        <p:spPr>
          <a:xfrm>
            <a:off x="640080" y="1920240"/>
            <a:ext cx="365760" cy="365760"/>
          </a:xfrm>
          <a:prstGeom prst="ellipse">
            <a:avLst/>
          </a:prstGeom>
          <a:solidFill>
            <a:srgbClr val="1E2761"/>
          </a:solidFill>
          <a:ln/>
        </p:spPr>
        <p:txBody>
          <a:bodyPr/>
          <a:lstStyle/>
          <a:p>
            <a:endParaRPr lang="en-ZA"/>
          </a:p>
        </p:txBody>
      </p:sp>
      <p:sp>
        <p:nvSpPr>
          <p:cNvPr id="6" name="Text 4"/>
          <p:cNvSpPr/>
          <p:nvPr/>
        </p:nvSpPr>
        <p:spPr>
          <a:xfrm>
            <a:off x="640080" y="19202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34440" y="1874520"/>
            <a:ext cx="9875520" cy="77724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Grew reliant on debt and lease financing through FY2022–FY2024 to sustain operations under pressure, pushing equity into negative territory.</a:t>
            </a:r>
            <a:endParaRPr lang="en-US" sz="1350" dirty="0"/>
          </a:p>
        </p:txBody>
      </p:sp>
      <p:sp>
        <p:nvSpPr>
          <p:cNvPr id="8" name="Shape 6"/>
          <p:cNvSpPr/>
          <p:nvPr/>
        </p:nvSpPr>
        <p:spPr>
          <a:xfrm>
            <a:off x="640080" y="2761488"/>
            <a:ext cx="365760" cy="365760"/>
          </a:xfrm>
          <a:prstGeom prst="ellipse">
            <a:avLst/>
          </a:prstGeom>
          <a:solidFill>
            <a:srgbClr val="1E2761"/>
          </a:solidFill>
          <a:ln/>
        </p:spPr>
        <p:txBody>
          <a:bodyPr/>
          <a:lstStyle/>
          <a:p>
            <a:endParaRPr lang="en-ZA"/>
          </a:p>
        </p:txBody>
      </p:sp>
      <p:sp>
        <p:nvSpPr>
          <p:cNvPr id="9" name="Text 7"/>
          <p:cNvSpPr/>
          <p:nvPr/>
        </p:nvSpPr>
        <p:spPr>
          <a:xfrm>
            <a:off x="640080" y="2761488"/>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234440" y="2715768"/>
            <a:ext cx="9875520" cy="77724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Executed a R4.0bn rights issue in FY2025 — a decisive shift to equity financing to repair the balance sheet and restore solvency.</a:t>
            </a:r>
            <a:endParaRPr lang="en-US" sz="1350" dirty="0"/>
          </a:p>
        </p:txBody>
      </p:sp>
      <p:sp>
        <p:nvSpPr>
          <p:cNvPr id="11" name="Shape 9"/>
          <p:cNvSpPr/>
          <p:nvPr/>
        </p:nvSpPr>
        <p:spPr>
          <a:xfrm>
            <a:off x="640080" y="3602736"/>
            <a:ext cx="365760" cy="365760"/>
          </a:xfrm>
          <a:prstGeom prst="ellipse">
            <a:avLst/>
          </a:prstGeom>
          <a:solidFill>
            <a:srgbClr val="1E2761"/>
          </a:solidFill>
          <a:ln/>
        </p:spPr>
        <p:txBody>
          <a:bodyPr/>
          <a:lstStyle/>
          <a:p>
            <a:endParaRPr lang="en-ZA"/>
          </a:p>
        </p:txBody>
      </p:sp>
      <p:sp>
        <p:nvSpPr>
          <p:cNvPr id="12" name="Text 10"/>
          <p:cNvSpPr/>
          <p:nvPr/>
        </p:nvSpPr>
        <p:spPr>
          <a:xfrm>
            <a:off x="640080" y="3602736"/>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234440" y="3557016"/>
            <a:ext cx="9875520" cy="77724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Preserved liquidity by suspending dividends from FY2024 onward, retaining earnings to self-fund the recovery.</a:t>
            </a:r>
            <a:endParaRPr lang="en-US" sz="1350" dirty="0"/>
          </a:p>
        </p:txBody>
      </p:sp>
      <p:sp>
        <p:nvSpPr>
          <p:cNvPr id="14" name="Shape 12"/>
          <p:cNvSpPr/>
          <p:nvPr/>
        </p:nvSpPr>
        <p:spPr>
          <a:xfrm>
            <a:off x="640080" y="4443984"/>
            <a:ext cx="365760" cy="365760"/>
          </a:xfrm>
          <a:prstGeom prst="ellipse">
            <a:avLst/>
          </a:prstGeom>
          <a:solidFill>
            <a:srgbClr val="1E2761"/>
          </a:solidFill>
          <a:ln/>
        </p:spPr>
        <p:txBody>
          <a:bodyPr/>
          <a:lstStyle/>
          <a:p>
            <a:endParaRPr lang="en-ZA"/>
          </a:p>
        </p:txBody>
      </p:sp>
      <p:sp>
        <p:nvSpPr>
          <p:cNvPr id="15" name="Text 13"/>
          <p:cNvSpPr/>
          <p:nvPr/>
        </p:nvSpPr>
        <p:spPr>
          <a:xfrm>
            <a:off x="640080" y="4443984"/>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234440" y="4398264"/>
            <a:ext cx="9875520" cy="77724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Aggressively repaid borrowings (R11.4bn → R200m by FY2026), prioritising a strong, low-leverage balance sheet over cheap debt.</a:t>
            </a:r>
            <a:endParaRPr lang="en-US" sz="1350" dirty="0"/>
          </a:p>
        </p:txBody>
      </p:sp>
      <p:sp>
        <p:nvSpPr>
          <p:cNvPr id="17" name="Shape 15"/>
          <p:cNvSpPr/>
          <p:nvPr/>
        </p:nvSpPr>
        <p:spPr>
          <a:xfrm>
            <a:off x="640080" y="5285232"/>
            <a:ext cx="365760" cy="365760"/>
          </a:xfrm>
          <a:prstGeom prst="ellipse">
            <a:avLst/>
          </a:prstGeom>
          <a:solidFill>
            <a:srgbClr val="1E2761"/>
          </a:solidFill>
          <a:ln/>
        </p:spPr>
        <p:txBody>
          <a:bodyPr/>
          <a:lstStyle/>
          <a:p>
            <a:endParaRPr lang="en-ZA"/>
          </a:p>
        </p:txBody>
      </p:sp>
      <p:sp>
        <p:nvSpPr>
          <p:cNvPr id="18" name="Text 16"/>
          <p:cNvSpPr/>
          <p:nvPr/>
        </p:nvSpPr>
        <p:spPr>
          <a:xfrm>
            <a:off x="640080" y="5285232"/>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234440" y="5239512"/>
            <a:ext cx="9875520" cy="77724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Now finances growth (Boxer expansion) conservatively — minimal external debt, cash-generative operations, and covenant discipline.</a:t>
            </a:r>
            <a:endParaRPr lang="en-US" sz="1350" dirty="0"/>
          </a:p>
        </p:txBody>
      </p:sp>
      <p:sp>
        <p:nvSpPr>
          <p:cNvPr id="20" name="Text 18"/>
          <p:cNvSpPr/>
          <p:nvPr/>
        </p:nvSpPr>
        <p:spPr>
          <a:xfrm>
            <a:off x="640080" y="6263640"/>
            <a:ext cx="10515600" cy="457200"/>
          </a:xfrm>
          <a:prstGeom prst="rect">
            <a:avLst/>
          </a:prstGeom>
          <a:noFill/>
          <a:ln/>
        </p:spPr>
        <p:txBody>
          <a:bodyPr wrap="square" lIns="0" tIns="0" rIns="0" bIns="0" rtlCol="0" anchor="ctr"/>
          <a:lstStyle/>
          <a:p>
            <a:pPr marL="0" indent="0">
              <a:buNone/>
            </a:pPr>
            <a:r>
              <a:rPr lang="en-US" sz="1300" b="1" i="1" dirty="0">
                <a:solidFill>
                  <a:srgbClr val="C9A227"/>
                </a:solidFill>
                <a:latin typeface="Calibri" pitchFamily="34" charset="0"/>
                <a:ea typeface="Calibri" pitchFamily="34" charset="-122"/>
                <a:cs typeface="Calibri" pitchFamily="34" charset="-120"/>
              </a:rPr>
              <a:t>Net effect: Pick n Pay moved from a debt-dependent, loss-making capital structure to an equity-strengthened, self-funded turnaround.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TotalTime>
  <Words>792</Words>
  <Application>Microsoft Office PowerPoint</Application>
  <PresentationFormat>Widescreen</PresentationFormat>
  <Paragraphs>124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MASIXOLE NTSHANGASE</cp:lastModifiedBy>
  <cp:revision>1</cp:revision>
  <dcterms:created xsi:type="dcterms:W3CDTF">2026-07-21T11:35:02Z</dcterms:created>
  <dcterms:modified xsi:type="dcterms:W3CDTF">2026-07-23T17:03:00Z</dcterms:modified>
</cp:coreProperties>
</file>