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mbria"/>
              </a:rPr>
              <a:t>Ke, Kd and WACC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of Debt (Kd)</c:v>
                </c:pt>
              </c:strCache>
            </c:strRef>
          </c:tx>
          <c:spPr>
            <a:solidFill>
              <a:srgbClr val="6B7690"/>
            </a:solidFill>
            <a:ln w="25400" cap="flat">
              <a:solidFill>
                <a:srgbClr val="6B7690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6B7690"/>
                    </a:solidFill>
                    <a:latin typeface="Arial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6"/>
            <c:spPr>
              <a:solidFill>
                <a:srgbClr val="6B7690"/>
              </a:solidFill>
              <a:ln w="9525" cap="flat">
                <a:solidFill>
                  <a:srgbClr val="6B76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  <c:pt idx="3">
                    <c:v>FY2025</c:v>
                  </c:pt>
                  <c:pt idx="4">
                    <c:v>FY2026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7.52</c:v>
                </c:pt>
                <c:pt idx="1">
                  <c:v>7.69</c:v>
                </c:pt>
                <c:pt idx="2">
                  <c:v>9.07</c:v>
                </c:pt>
                <c:pt idx="3">
                  <c:v>9.96</c:v>
                </c:pt>
                <c:pt idx="4">
                  <c:v>9.47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6B7690"/>
                  </a:solidFill>
                  <a:latin typeface="Arial"/>
                </a:defRPr>
              </a:pPr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Cost of Equity (Ke)</c:v>
                </c:pt>
              </c:strCache>
            </c:strRef>
          </c:tx>
          <c:spPr>
            <a:solidFill>
              <a:srgbClr val="C9A227"/>
            </a:solidFill>
            <a:ln w="3175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C9A2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  <c:pt idx="3">
                    <c:v>FY2025</c:v>
                  </c:pt>
                  <c:pt idx="4">
                    <c:v>FY2026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19.01</c:v>
                </c:pt>
                <c:pt idx="1">
                  <c:v>6.78</c:v>
                </c:pt>
                <c:pt idx="2">
                  <c:v>-3.56</c:v>
                </c:pt>
                <c:pt idx="3">
                  <c:v>7.18</c:v>
                </c:pt>
                <c:pt idx="4">
                  <c:v>14.07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C9A22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WACC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dashDot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triang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  <c:pt idx="3">
                    <c:v>FY2025</c:v>
                  </c:pt>
                  <c:pt idx="4">
                    <c:v>FY2026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19</c:v>
                </c:pt>
                <c:pt idx="1">
                  <c:v>6.78</c:v>
                </c:pt>
                <c:pt idx="2">
                  <c:v>-3.52</c:v>
                </c:pt>
                <c:pt idx="3">
                  <c:v>7.18</c:v>
                </c:pt>
                <c:pt idx="4">
                  <c:v>14.06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540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6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6B7690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6B7690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540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35405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n Pay Stores Ltd — FY2022 to FY2026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70048" cy="3566160"/>
          </a:xfrm>
          <a:prstGeom prst="roundRect">
            <a:avLst>
              <a:gd name="adj" fmla="val 274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27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Equity (Ke)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regression of monthly PIKJ share returns vs. FTSE/JSE All Share returns, using a rolling 12-month window ending each financial year-end.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4251960"/>
            <a:ext cx="2212848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3708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 = Rf + β(Rm − Rf)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9856" y="1371600"/>
            <a:ext cx="2670048" cy="3566160"/>
          </a:xfrm>
          <a:prstGeom prst="roundRect">
            <a:avLst>
              <a:gd name="adj" fmla="val 2740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621024" y="1627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1024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48456" y="219456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Debt (Kd)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48456" y="274320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funding debt (borrowings &amp; overdraft) and lease liabilities (IFRS 16). Each matched to its own finance-cost line, then weighted.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48456" y="4251960"/>
            <a:ext cx="2212848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8456" y="43708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 = Σ (weightᵢ × rateᵢ)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91072" y="1371600"/>
            <a:ext cx="2670048" cy="3566160"/>
          </a:xfrm>
          <a:prstGeom prst="roundRect">
            <a:avLst>
              <a:gd name="adj" fmla="val 274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627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19672" y="219456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Structure Weights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19672" y="274320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 of equity (share price × shares outside the Group) and total interest-bearing debt (funding + leases) set the E/V and D/V weights.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19672" y="4251960"/>
            <a:ext cx="2212848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43708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E/V  and  D/V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62288" y="1371600"/>
            <a:ext cx="2670048" cy="3566160"/>
          </a:xfrm>
          <a:prstGeom prst="roundRect">
            <a:avLst>
              <a:gd name="adj" fmla="val 2740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9363456" y="1627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936345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90888" y="219456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into WACC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90888" y="274320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and after-tax debt costs are blended using the capital structure weights, applying the SA statutory corporate tax rate to the debt shield.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90888" y="4251960"/>
            <a:ext cx="2212848" cy="0"/>
          </a:xfrm>
          <a:prstGeom prst="line">
            <a:avLst/>
          </a:prstGeom>
          <a:noFill/>
          <a:ln w="12700">
            <a:solidFill>
              <a:srgbClr val="445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0888" y="437083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WACC = (E/V)Ke + (D/V)Kd(1−T)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166360"/>
            <a:ext cx="11283696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276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77240" y="5541264"/>
            <a:ext cx="10826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prices &amp; index data: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Investing.com — monthly PIKJ closes and FTSE/JSE All Share Index
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 (Rf):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10-year government bond yield
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Debt, tax &amp; share data: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n Pay Stores Ltd audited Annual Financial Statements (pnp.co.za), FY2022–FY2026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Strategy — WACC Methodology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Debt (Kd) — Detailed Build-Up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vs FY2025, Rm unless stated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4068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097280"/>
                <a:gridCol w="1097280"/>
              </a:tblGrid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Interest-bearing debt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Borrowings (non-current)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overdraft / overnight borrowings (current)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Borrowings (current)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debt sub-total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 liabilities (non-current)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15 883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16 379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 liabilities (current)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2 652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2 741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 liabilities sub-total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18 535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interest-bearing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18 735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20 270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44068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097280"/>
                <a:gridCol w="1097280"/>
              </a:tblGrid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expenses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finance expense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Leases finance expense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1 778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1 769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finance costs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2 561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889504"/>
          <a:ext cx="544068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097280"/>
                <a:gridCol w="10972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debt build-up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funding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6 297.5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funding debt (cost 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lease liabilities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18 827.5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19 413.0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lease liabilities (cost 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total interest-bearing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19 502.5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25 710.5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(funding)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(leases)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548640" y="5715000"/>
            <a:ext cx="1110996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/>
        </p:spPr>
      </p:sp>
      <p:sp>
        <p:nvSpPr>
          <p:cNvPr id="8" name="Text 3"/>
          <p:cNvSpPr/>
          <p:nvPr/>
        </p:nvSpPr>
        <p:spPr>
          <a:xfrm>
            <a:off x="822960" y="5715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Cost of Debt (Kd):   </a:t>
            </a:r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FY2026 ≈ 9.47%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   |     </a:t>
            </a:r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FY2025 ≈ 9.96%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Strategy — Cost of Debt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124712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Equity &amp; Five-Year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CAPM build-up, alongside Ke, Kd and WACC over FY2022–FY2026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343400" cy="4892040"/>
          </a:xfrm>
          <a:prstGeom prst="roundRect">
            <a:avLst>
              <a:gd name="adj" fmla="val 168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361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Equity (Ke) — CAPM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540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 = Rf + β(Rm − Rf)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468880"/>
          <a:ext cx="38862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08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Risk-free rate (Rf)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(β)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return (Rm)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54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7240" y="3977640"/>
            <a:ext cx="3886200" cy="0"/>
          </a:xfrm>
          <a:prstGeom prst="line">
            <a:avLst/>
          </a:prstGeom>
          <a:noFill/>
          <a:ln w="12700">
            <a:solidFill>
              <a:srgbClr val="C7CC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1148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 ≈ 14.07%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across the period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510235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−3.6% (FY2024) to 19.0% (FY2022) — a rolling 12-month regression is highly sensitive to short-term share price swings, especially during the FY2024 crisis.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74920" y="6080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(navy, dash-dot, triangle markers) sits almost on top of Ke (gold, solid, circle markers) because equity dominates the capital structure weighting — the distinct line style keeps both series visible.</a:t>
            </a:r>
            <a:endParaRPr lang="en-US" sz="9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074920" y="1371600"/>
          <a:ext cx="65836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Strategy — Cost of Equity &amp; Trend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— What the Numbers Mean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Ke, Kd and WACC alongside Pick n Pay's FY2022–FY2026 turnaround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2487168"/>
          </a:xfrm>
          <a:prstGeom prst="roundRect">
            <a:avLst>
              <a:gd name="adj" fmla="val 294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5394960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Equity — why it swung so much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920240"/>
            <a:ext cx="48920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FY2024's negative Ke (−3.6%) lines up with the crisis low point: total equity turned negative (R(293)m) and debt peaked at R11.4bn — a distressed period that produced an unusual regression result, not a genuine negative required return.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recovered to 14.1% by FY2026 as the FY2025 rights offer and Boxer-led growth restored market confidence and share price stability.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5394960" cy="2487168"/>
          </a:xfrm>
          <a:prstGeom prst="roundRect">
            <a:avLst>
              <a:gd name="adj" fmla="val 2941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325880"/>
            <a:ext cx="53949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325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Debt — steady despite the turmoil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28232" y="1920240"/>
            <a:ext cx="48920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stayed in a narrow 7.5%–10.0% band throughout, because lease liabilities (IFRS 16 store leases) dominate total debt (69%–97%) and carry a fairly stable rate regardless of the crisis.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borrowings swung wildly in Rand terms (R6.8bn → R11.4bn → R1.15bn → R0.2bn) but even at their FY2024 peak were a minority of total debt — so Kd never spiked the way Ke did.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5394960" cy="2487168"/>
          </a:xfrm>
          <a:prstGeom prst="roundRect">
            <a:avLst>
              <a:gd name="adj" fmla="val 2941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041648"/>
            <a:ext cx="5394960" cy="457200"/>
          </a:xfrm>
          <a:prstGeom prst="rect">
            <a:avLst/>
          </a:prstGeom>
          <a:solidFill>
            <a:srgbClr val="3E7C5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41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 — a mirror of the equity story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4636008"/>
            <a:ext cx="48920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dominates the capital structure weighting (E/V consistently above 99.5%), so WACC tracks Ke almost exactly — including turning negative in FY2024 and rebounding after.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makes sense operationally: the FY2025 rights offer was a deliberate move to repair the balance sheet, so a recovering WACC reflects management's own deleveraging strategy playing out.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4041648"/>
            <a:ext cx="5394960" cy="2487168"/>
          </a:xfrm>
          <a:prstGeom prst="roundRect">
            <a:avLst>
              <a:gd name="adj" fmla="val 2941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4041648"/>
            <a:ext cx="5394960" cy="457200"/>
          </a:xfrm>
          <a:prstGeom prst="rect">
            <a:avLst/>
          </a:prstGeom>
          <a:solidFill>
            <a:srgbClr val="3540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041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market equity jumped in FY2025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28232" y="4636008"/>
            <a:ext cx="48920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outside the Group rose from ~482.7m (FY2024) to ~735.7m (FY2025) — a ~52% increase — driven entirely by the R4.0bn rights offer, not organic issuance.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35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ordinary shares were issued outside that rights offer, so the FY2026 count (~734.4m) is essentially unchanged — this equity injection is exactly why market equity, and the capital structure, shifted so sharply from FY2024 to FY2025.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Strategy — Interpretation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2026-07-24T05:39:46Z</dcterms:created>
  <dcterms:modified xsi:type="dcterms:W3CDTF">2026-07-24T05:39:46Z</dcterms:modified>
</cp:coreProperties>
</file>